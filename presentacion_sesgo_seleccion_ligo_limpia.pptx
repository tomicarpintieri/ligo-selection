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143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7FA"/>
                </a:solidFill>
              </a:defRPr>
            </a:pPr>
            <a:r>
              <a:t>Sesgo de Selección y Observabilidad en LIGO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500"/>
              </a:spcAft>
              <a:defRPr sz="2500">
                <a:solidFill>
                  <a:srgbClr val="2A9D8F"/>
                </a:solidFill>
              </a:defRPr>
            </a:pPr>
            <a:r>
              <a:t>El caso GW150914</a:t>
            </a:r>
          </a:p>
          <a:p>
            <a:pPr algn="l"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Tomás Carpintieri · Agustín Miculicich</a:t>
            </a:r>
          </a:p>
          <a:p>
            <a:pPr algn="l"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Universidad de Buenos Aires (UBA)</a:t>
            </a:r>
          </a:p>
          <a:p>
            <a:pPr algn="l"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Proyecto final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63640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Motivación: el universo filtrado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LIGO mide deformaciones diferenciales del espacio-tiempo.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Detectar requiere superar un umbral de SNR.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La detectabilidad depende de distancia, masa, orientación y posición celeste.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Población observada ≠ población intrínseca.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63640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Validación del pipeline: GW150914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617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Control en datos reales antes de inferir selección.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SNR H1 = 19.810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SNR L1 = 13.543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Delay L1 − H1 = −7.080 ms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PSD y normalización verificadas con tests.</a:t>
            </a:r>
          </a:p>
        </p:txBody>
      </p:sp>
      <p:pic>
        <p:nvPicPr>
          <p:cNvPr id="4" name="Picture 3" descr="f01_snr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2356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263640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Waveform propia frente a LAL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617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TaylorF2 no giratoria: amplitud 0PN y fase 3.5PN.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Match frente a referencia LAL = 1.000.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SNR inspiral = 11.358.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La inspiral sola subestima la detectabilidad de sistemas pesados.</a:t>
            </a:r>
          </a:p>
        </p:txBody>
      </p:sp>
      <p:pic>
        <p:nvPicPr>
          <p:cNvPr id="4" name="Picture 3" descr="f02_waveform_vs_l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2356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263640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Sensibilidad, horizonte y volumen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4617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ρ ∝ 1/D; por lo tanto V ∝ D³.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Horizonte óptimo de GW150914: 1969.9 Mpc.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Volumen euclídeo: 32.02 Gpc³.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En baja masa: Dₕ ∝ Mchirp^(5/6).</a:t>
            </a:r>
          </a:p>
        </p:txBody>
      </p:sp>
      <p:pic>
        <p:nvPicPr>
          <p:cNvPr id="4" name="Picture 3" descr="f03_horizon_vs_m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2356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263640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Geometría, red y puntos ciegos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Un interferómetro L tiene cuatro direcciones ciegas exactas.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Promedio angular: ⟨F₊²⟩ ≈ ⟨F×²⟩ ≈ 1/5.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Horizonte/rango = 2.26487.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Tiempo máximo H1–L1 = 10.00274 ms.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El delay define un anillo compatible, no una localización puntual.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63640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El catálogo de detecciones es una población filtrada instrumentalmente.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El sesgo favorece fuentes cercanas, masivas y bien orientadas.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Pipeline reproducible: datos, resultados, procedencia, figuras y tests.</a:t>
            </a:r>
          </a:p>
          <a:p>
            <a:pPr>
              <a:spcAft>
                <a:spcPts val="1500"/>
              </a:spcAft>
              <a:defRPr sz="1900">
                <a:solidFill>
                  <a:srgbClr val="F5F7FA"/>
                </a:solidFill>
              </a:defRPr>
            </a:pPr>
            <a:r>
              <a:t>• Siguiente paso: inyecciones, cosmología e inferencia jerárquica.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63640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