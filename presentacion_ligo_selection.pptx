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2F5F9"/>
                </a:solidFill>
              </a:defRPr>
            </a:pPr>
            <a:r>
              <a:t>LIGO Selection</a:t>
            </a:r>
          </a:p>
          <a:p>
            <a:pPr>
              <a:defRPr sz="1400">
                <a:solidFill>
                  <a:srgbClr val="AABED2"/>
                </a:solidFill>
              </a:defRPr>
            </a:pPr>
            <a:r>
              <a:t>Proyecto reproducible sobre GW150914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F2F5F9"/>
                </a:solidFill>
              </a:defRPr>
            </a:pPr>
            <a:r>
              <a:t>Qué detecta LIGO, qué deja afuera y por qué la selección altera el catálogo observado.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2F5F9"/>
                </a:solidFill>
              </a:defRPr>
            </a:pPr>
            <a:r>
              <a:t>La pregunta física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F2F5F9"/>
                </a:solidFill>
              </a:defRPr>
            </a:pPr>
            <a:r>
              <a:t>Las fusiones no se observan de forma uniforme.</a:t>
            </a:r>
          </a:p>
          <a:p>
            <a:pPr>
              <a:spcAft>
                <a:spcPts val="1600"/>
              </a:spcAft>
              <a:defRPr sz="2100">
                <a:solidFill>
                  <a:srgbClr val="F2F5F9"/>
                </a:solidFill>
              </a:defRPr>
            </a:pPr>
            <a:r>
              <a:t>La detectabilidad depende de distancia, masa, orientación, posición en el cielo y red de detectores.</a:t>
            </a:r>
          </a:p>
          <a:p>
            <a:pPr>
              <a:spcAft>
                <a:spcPts val="1600"/>
              </a:spcAft>
              <a:defRPr sz="2100">
                <a:solidFill>
                  <a:srgbClr val="F2F5F9"/>
                </a:solidFill>
              </a:defRPr>
            </a:pPr>
            <a:r>
              <a:t>Objetivo: medir ese sesgo con un pipeline verificable.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2F5F9"/>
                </a:solidFill>
              </a:defRPr>
            </a:pPr>
            <a:r>
              <a:t>Primero: un control conocido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493776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F2F5F9"/>
                </a:solidFill>
              </a:defRPr>
            </a:pPr>
            <a:r>
              <a:t>El pipeline recupera GW150914 en datos reales.</a:t>
            </a:r>
          </a:p>
          <a:p>
            <a:pPr>
              <a:spcAft>
                <a:spcPts val="1600"/>
              </a:spcAft>
              <a:defRPr sz="2100">
                <a:solidFill>
                  <a:srgbClr val="F2F5F9"/>
                </a:solidFill>
              </a:defRPr>
            </a:pPr>
            <a:r>
              <a:t>SNR Hanford: 19.810</a:t>
            </a:r>
          </a:p>
          <a:p>
            <a:pPr>
              <a:spcAft>
                <a:spcPts val="1600"/>
              </a:spcAft>
              <a:defRPr sz="2100">
                <a:solidFill>
                  <a:srgbClr val="F2F5F9"/>
                </a:solidFill>
              </a:defRPr>
            </a:pPr>
            <a:r>
              <a:t>SNR Livingston: 13.543</a:t>
            </a:r>
          </a:p>
          <a:p>
            <a:pPr>
              <a:spcAft>
                <a:spcPts val="1600"/>
              </a:spcAft>
              <a:defRPr sz="2100">
                <a:solidFill>
                  <a:srgbClr val="F2F5F9"/>
                </a:solidFill>
              </a:defRPr>
            </a:pPr>
            <a:r>
              <a:t>Llegada de L1: 7.080 ms antes que H1.</a:t>
            </a:r>
          </a:p>
        </p:txBody>
      </p:sp>
      <p:pic>
        <p:nvPicPr>
          <p:cNvPr id="4" name="Picture 3" descr="f01_snr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25880"/>
            <a:ext cx="5577840" cy="27479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2F5F9"/>
                </a:solidFill>
              </a:defRPr>
            </a:pPr>
            <a:r>
              <a:t>La señal: TaylorF2 frente a LAL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493776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F2F5F9"/>
                </a:solidFill>
              </a:defRPr>
            </a:pPr>
            <a:r>
              <a:t>Construimos una waveform inspiral en frecuencia.</a:t>
            </a:r>
          </a:p>
          <a:p>
            <a:pPr>
              <a:spcAft>
                <a:spcPts val="1600"/>
              </a:spcAft>
              <a:defRPr sz="2100">
                <a:solidFill>
                  <a:srgbClr val="F2F5F9"/>
                </a:solidFill>
              </a:defRPr>
            </a:pPr>
            <a:r>
              <a:t>Relación de amplitud mediana: 1.000.</a:t>
            </a:r>
          </a:p>
          <a:p>
            <a:pPr>
              <a:spcAft>
                <a:spcPts val="1600"/>
              </a:spcAft>
              <a:defRPr sz="2100">
                <a:solidFill>
                  <a:srgbClr val="F2F5F9"/>
                </a:solidFill>
              </a:defRPr>
            </a:pPr>
            <a:r>
              <a:t>Match fase/tiempo: 1.000.</a:t>
            </a:r>
          </a:p>
          <a:p>
            <a:pPr>
              <a:spcAft>
                <a:spcPts val="1600"/>
              </a:spcAft>
              <a:defRPr sz="2100">
                <a:solidFill>
                  <a:srgbClr val="F2F5F9"/>
                </a:solidFill>
              </a:defRPr>
            </a:pPr>
            <a:r>
              <a:t>Limitación: una inspiral sola subestima sistemas pesados; faltan merger y ringdown.</a:t>
            </a:r>
          </a:p>
        </p:txBody>
      </p:sp>
      <p:pic>
        <p:nvPicPr>
          <p:cNvPr id="4" name="Picture 3" descr="f02_waveform_vs_l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25880"/>
            <a:ext cx="5577840" cy="41597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2F5F9"/>
                </a:solidFill>
              </a:defRPr>
            </a:pPr>
            <a:r>
              <a:t>De SNR a distancia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493776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F2F5F9"/>
                </a:solidFill>
              </a:defRPr>
            </a:pPr>
            <a:r>
              <a:t>SNR ∝ 1/distancia.</a:t>
            </a:r>
          </a:p>
          <a:p>
            <a:pPr>
              <a:spcAft>
                <a:spcPts val="1600"/>
              </a:spcAft>
              <a:defRPr sz="2100">
                <a:solidFill>
                  <a:srgbClr val="F2F5F9"/>
                </a:solidFill>
              </a:defRPr>
            </a:pPr>
            <a:r>
              <a:t>Con umbral SNR = 8: horizonte GW150914 = 1969.9 Mpc.</a:t>
            </a:r>
          </a:p>
          <a:p>
            <a:pPr>
              <a:spcAft>
                <a:spcPts val="1600"/>
              </a:spcAft>
              <a:defRPr sz="2100">
                <a:solidFill>
                  <a:srgbClr val="F2F5F9"/>
                </a:solidFill>
              </a:defRPr>
            </a:pPr>
            <a:r>
              <a:t>Volumen euclídeo sensible = 32.02 Gpc³.</a:t>
            </a:r>
          </a:p>
          <a:p>
            <a:pPr>
              <a:spcAft>
                <a:spcPts val="1600"/>
              </a:spcAft>
              <a:defRPr sz="2100">
                <a:solidFill>
                  <a:srgbClr val="F2F5F9"/>
                </a:solidFill>
              </a:defRPr>
            </a:pPr>
            <a:r>
              <a:t>La escala de baja masa sigue Mchirp^(5/6).</a:t>
            </a:r>
          </a:p>
        </p:txBody>
      </p:sp>
      <p:pic>
        <p:nvPicPr>
          <p:cNvPr id="4" name="Picture 3" descr="f03_horizon_vs_mchir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25880"/>
            <a:ext cx="5577840" cy="3550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2F5F9"/>
                </a:solidFill>
              </a:defRPr>
            </a:pPr>
            <a:r>
              <a:t>Orientación: el detector no oye igual todo el cielo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F2F5F9"/>
                </a:solidFill>
              </a:defRPr>
            </a:pPr>
            <a:r>
              <a:t>El patrón de antena tiene cuatro direcciones ciegas exactas.</a:t>
            </a:r>
          </a:p>
          <a:p>
            <a:pPr>
              <a:spcAft>
                <a:spcPts val="1600"/>
              </a:spcAft>
              <a:defRPr sz="2100">
                <a:solidFill>
                  <a:srgbClr val="F2F5F9"/>
                </a:solidFill>
              </a:defRPr>
            </a:pPr>
            <a:r>
              <a:t>&lt;F+²&gt; = 0.19997 y &lt;Fx²&gt; = 0.19987, consistentes con 1/5.</a:t>
            </a:r>
          </a:p>
          <a:p>
            <a:pPr>
              <a:spcAft>
                <a:spcPts val="1600"/>
              </a:spcAft>
              <a:defRPr sz="2100">
                <a:solidFill>
                  <a:srgbClr val="F2F5F9"/>
                </a:solidFill>
              </a:defRPr>
            </a:pPr>
            <a:r>
              <a:t>El factor de proyección RMS es 0.39996.</a:t>
            </a:r>
          </a:p>
          <a:p>
            <a:pPr>
              <a:spcAft>
                <a:spcPts val="1600"/>
              </a:spcAft>
              <a:defRPr sz="2100">
                <a:solidFill>
                  <a:srgbClr val="F2F5F9"/>
                </a:solidFill>
              </a:defRPr>
            </a:pPr>
            <a:r>
              <a:t>Horizonte / rango = 2.26487: el horizonte es el mejor caso, no el promedio.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2F5F9"/>
                </a:solidFill>
              </a:defRPr>
            </a:pPr>
            <a:r>
              <a:t>La red H1–L1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F2F5F9"/>
                </a:solidFill>
              </a:defRPr>
            </a:pPr>
            <a:r>
              <a:t>La separación máxima medida por tiempo de vuelo es 10.00274 ms.</a:t>
            </a:r>
          </a:p>
          <a:p>
            <a:pPr>
              <a:spcAft>
                <a:spcPts val="1600"/>
              </a:spcAft>
              <a:defRPr sz="2100">
                <a:solidFill>
                  <a:srgbClr val="F2F5F9"/>
                </a:solidFill>
              </a:defRPr>
            </a:pPr>
            <a:r>
              <a:t>La ganancia promedio de respuesta de la red es 2.0018 frente a un detector.</a:t>
            </a:r>
          </a:p>
          <a:p>
            <a:pPr>
              <a:spcAft>
                <a:spcPts val="1600"/>
              </a:spcAft>
              <a:defRPr sz="2100">
                <a:solidFill>
                  <a:srgbClr val="F2F5F9"/>
                </a:solidFill>
              </a:defRPr>
            </a:pPr>
            <a:r>
              <a:t>El delay de GW150914 es consistente con un anillo en el cielo, no con una localización puntual.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2F5F9"/>
                </a:solidFill>
              </a:defRPr>
            </a:pPr>
            <a:r>
              <a:t>Qué aprendimos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F2F5F9"/>
                </a:solidFill>
              </a:defRPr>
            </a:pPr>
            <a:r>
              <a:t>Los catálogos favorecen fuentes más masivas, cercanas y bien orientadas.</a:t>
            </a:r>
          </a:p>
          <a:p>
            <a:pPr>
              <a:spcAft>
                <a:spcPts val="1600"/>
              </a:spcAft>
              <a:defRPr sz="2100">
                <a:solidFill>
                  <a:srgbClr val="F2F5F9"/>
                </a:solidFill>
              </a:defRPr>
            </a:pPr>
            <a:r>
              <a:t>Una detección no es una muestra representativa del universo.</a:t>
            </a:r>
          </a:p>
          <a:p>
            <a:pPr>
              <a:spcAft>
                <a:spcPts val="1600"/>
              </a:spcAft>
              <a:defRPr sz="2100">
                <a:solidFill>
                  <a:srgbClr val="F2F5F9"/>
                </a:solidFill>
              </a:defRPr>
            </a:pPr>
            <a:r>
              <a:t>La selección debe modelarse antes de inferir poblaciones astrofísicas.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2F5F9"/>
                </a:solidFill>
              </a:defRPr>
            </a:pPr>
            <a:r>
              <a:t>Rigor y reproducibilidad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F2F5F9"/>
                </a:solidFill>
              </a:defRPr>
            </a:pPr>
            <a:r>
              <a:t>Resultados en results.json; cada cifra tiene procedencia.</a:t>
            </a:r>
          </a:p>
          <a:p>
            <a:pPr>
              <a:spcAft>
                <a:spcPts val="1600"/>
              </a:spcAft>
              <a:defRPr sz="2100">
                <a:solidFill>
                  <a:srgbClr val="F2F5F9"/>
                </a:solidFill>
              </a:defRPr>
            </a:pPr>
            <a:r>
              <a:t>Scripts por etapa y figuras regenerables.</a:t>
            </a:r>
          </a:p>
          <a:p>
            <a:pPr>
              <a:spcAft>
                <a:spcPts val="1600"/>
              </a:spcAft>
              <a:defRPr sz="2100">
                <a:solidFill>
                  <a:srgbClr val="F2F5F9"/>
                </a:solidFill>
              </a:defRPr>
            </a:pPr>
            <a:r>
              <a:t>run_all.py reconstruye el análisis.</a:t>
            </a:r>
          </a:p>
          <a:p>
            <a:pPr>
              <a:spcAft>
                <a:spcPts val="1600"/>
              </a:spcAft>
              <a:defRPr sz="2100">
                <a:solidFill>
                  <a:srgbClr val="F2F5F9"/>
                </a:solidFill>
              </a:defRPr>
            </a:pPr>
            <a:r>
              <a:t>39 tests automatizados aprobados.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2F5F9"/>
                </a:solidFill>
              </a:defRPr>
            </a:pPr>
            <a:r>
              <a:t>Limitaciones y próximos pasos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F2F5F9"/>
                </a:solidFill>
              </a:defRPr>
            </a:pPr>
            <a:r>
              <a:t>Volumen euclídeo: sin cosmología ni corrimiento al rojo.</a:t>
            </a:r>
          </a:p>
          <a:p>
            <a:pPr>
              <a:spcAft>
                <a:spcPts val="1600"/>
              </a:spcAft>
              <a:defRPr sz="2100">
                <a:solidFill>
                  <a:srgbClr val="F2F5F9"/>
                </a:solidFill>
              </a:defRPr>
            </a:pPr>
            <a:r>
              <a:t>La red actual aún no incluye mapas/animación finales de cobertura.</a:t>
            </a:r>
          </a:p>
          <a:p>
            <a:pPr>
              <a:spcAft>
                <a:spcPts val="1600"/>
              </a:spcAft>
              <a:defRPr sz="2100">
                <a:solidFill>
                  <a:srgbClr val="F2F5F9"/>
                </a:solidFill>
              </a:defRPr>
            </a:pPr>
            <a:r>
              <a:t>Próximo paso: campaña de inyecciones con población de masas, orientación y distancia.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2F5F9"/>
                </a:solidFill>
              </a:defRPr>
            </a:pPr>
            <a:r>
              <a:t>Cierre</a:t>
            </a:r>
          </a:p>
          <a:p>
            <a:pPr>
              <a:defRPr sz="1400">
                <a:solidFill>
                  <a:srgbClr val="AABED2"/>
                </a:solidFill>
              </a:defRPr>
            </a:pPr>
            <a:r>
              <a:t>Gracias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F2F5F9"/>
                </a:solidFill>
              </a:defRPr>
            </a:pPr>
            <a:r>
              <a:t>La pregunta no es solo “¿se detectó?”</a:t>
            </a:r>
          </a:p>
          <a:p>
            <a:pPr>
              <a:spcAft>
                <a:spcPts val="1600"/>
              </a:spcAft>
              <a:defRPr sz="2100">
                <a:solidFill>
                  <a:srgbClr val="F2F5F9"/>
                </a:solidFill>
              </a:defRPr>
            </a:pPr>
            <a:r>
              <a:t>También es “¿qué tipo de universo permite detectar este instrumento?”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