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s. Presentar la pregunta guía: una detección no es una muestra neutral del universo; el detector favorece ciertas fuentes.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La pregunta no es solamente si una fusión existe, sino qué tan probable es que esta red la detecte. Esa probabilidad sesga cualquier conclusión sobre poblaciones de agujeros negros.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Este es el resultado central. El horizonte es el caso ideal; al promediar la respuesta angular, horizonte/rango es 2.2649. Como el volumen crece como distancia al cubo, no modelar selección afecta mucho los conteos.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Mostrar el pico en ambos detectores. El test de control recupera SNR 19.81 en Hanford y 13.54 en Livingston, con el retraso esperado. También contrastamos nuestra waveform con LAL: match 1.000.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Esta fue la dificultad y el aprendizaje del proyecto: no aceptar un número solo porque parece razonable. El pipeline tiene datos hasheados, tests y procedencia. Una limitación importante: inspiral-only subestima la detectabilidad de sistemas pesados como GW150914.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s. Cerrar con el mensaje principal y el próximo paso concreto: una campaña de inyecciones completa. Abrir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esta diapositiva visible durante las preguntas. No hace falta decir más que: gracias por escucharnos; esperamos sus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713232"/>
            <a:ext cx="1572768" cy="310896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694944"/>
            <a:ext cx="1426464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1">
                <a:solidFill>
                  <a:srgbClr val="0C182B"/>
                </a:solidFill>
                <a:latin typeface="Aptos"/>
              </a:defRPr>
            </a:pPr>
            <a:r>
              <a:t>PROYECTO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10469880" cy="1691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3100" b="1">
                <a:solidFill>
                  <a:srgbClr val="F7F9FC"/>
                </a:solidFill>
                <a:latin typeface="Aptos"/>
              </a:defRPr>
            </a:pPr>
            <a:r>
              <a:t>¿De qué es ciego LIGO?</a:t>
            </a:r>
            <a:br/>
            <a:r>
              <a:t>Efectos de selección en el catálogo de fusiones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273552"/>
            <a:ext cx="978408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700" b="0">
                <a:solidFill>
                  <a:srgbClr val="BDCAD8"/>
                </a:solidFill>
                <a:latin typeface="Aptos"/>
              </a:defRPr>
            </a:pPr>
            <a:r>
              <a:t>Proyecto final · Ondas Gravitacionales e Investigación Asistida por 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4800600"/>
            <a:ext cx="3566160" cy="73152"/>
          </a:xfrm>
          <a:prstGeom prst="rect">
            <a:avLst/>
          </a:prstGeom>
          <a:solidFill>
            <a:srgbClr val="F1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074920"/>
            <a:ext cx="5303520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600" b="0">
                <a:solidFill>
                  <a:srgbClr val="F7F9FC"/>
                </a:solidFill>
                <a:latin typeface="Aptos"/>
              </a:defRPr>
            </a:pPr>
            <a:r>
              <a:t>Tomás Carpintieri · Agustín Miculicich</a:t>
            </a:r>
            <a:br/>
            <a:r>
              <a:t>Universidad de Buenos Aires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5897880"/>
            <a:ext cx="118872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defRPr sz="1400" b="1">
                <a:solidFill>
                  <a:srgbClr val="30B5A4"/>
                </a:solidFill>
                <a:latin typeface="Aptos"/>
              </a:defRPr>
            </a:pPr>
            <a:r>
              <a:t>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417320" cy="292608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93192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00" b="1">
                <a:solidFill>
                  <a:srgbClr val="0C182B"/>
                </a:solidFill>
                <a:latin typeface="Aptos"/>
              </a:defRPr>
            </a:pPr>
            <a:r>
              <a:t>1 ·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0392"/>
            <a:ext cx="109728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900" b="1">
                <a:solidFill>
                  <a:srgbClr val="F7F9FC"/>
                </a:solidFill>
                <a:latin typeface="Aptos"/>
              </a:defRPr>
            </a:pPr>
            <a:r>
              <a:t>El catálogo observado no es el universo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426464"/>
            <a:ext cx="1069848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BDCAD8"/>
                </a:solidFill>
                <a:latin typeface="Aptos"/>
              </a:defRPr>
            </a:pPr>
            <a:r>
              <a:t>La detectabilidad depende tanto de la fuente como de la geometría del detector.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900" b="0">
                <a:solidFill>
                  <a:srgbClr val="BDCAD8"/>
                </a:solidFill>
                <a:latin typeface="Aptos"/>
              </a:defRPr>
            </a:pPr>
            <a:r>
              <a:t>LIGO selection  ·  Proyecto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06040" cy="1463040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5" y="2423160"/>
            <a:ext cx="214884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1">
                <a:solidFill>
                  <a:srgbClr val="202B39"/>
                </a:solidFill>
                <a:latin typeface="Aptos"/>
              </a:defRPr>
            </a:pPr>
            <a:r>
              <a:t>FUENTE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761488"/>
            <a:ext cx="226771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b="1">
                <a:solidFill>
                  <a:srgbClr val="202B39"/>
                </a:solidFill>
                <a:latin typeface="Aptos"/>
              </a:defRPr>
            </a:pPr>
            <a:r>
              <a:t>masa</a:t>
            </a:r>
            <a:br/>
            <a:r>
              <a:t>distancia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2240280"/>
            <a:ext cx="2606040" cy="1463040"/>
          </a:xfrm>
          <a:prstGeom prst="roundRect">
            <a:avLst/>
          </a:prstGeom>
          <a:solidFill>
            <a:srgbClr val="FF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1416" y="2423160"/>
            <a:ext cx="214884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1">
                <a:solidFill>
                  <a:srgbClr val="202B39"/>
                </a:solidFill>
                <a:latin typeface="Aptos"/>
              </a:defRPr>
            </a:pPr>
            <a:r>
              <a:t>GEOMETRÍA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6552" y="2761488"/>
            <a:ext cx="226771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b="1">
                <a:solidFill>
                  <a:srgbClr val="202B39"/>
                </a:solidFill>
                <a:latin typeface="Aptos"/>
              </a:defRPr>
            </a:pPr>
            <a:r>
              <a:t>cielo</a:t>
            </a:r>
            <a:br/>
            <a:r>
              <a:t>orientación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2240280"/>
            <a:ext cx="2606040" cy="1463040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46136" y="2423160"/>
            <a:ext cx="214884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1">
                <a:solidFill>
                  <a:srgbClr val="202B39"/>
                </a:solidFill>
                <a:latin typeface="Aptos"/>
              </a:defRPr>
            </a:pPr>
            <a:r>
              <a:t>INSTRUMENTO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1271" y="2761488"/>
            <a:ext cx="226771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b="1">
                <a:solidFill>
                  <a:srgbClr val="202B39"/>
                </a:solidFill>
                <a:latin typeface="Aptos"/>
              </a:defRPr>
            </a:pPr>
            <a:r>
              <a:t>ruido</a:t>
            </a:r>
            <a:br/>
            <a:r>
              <a:t>umbral SNR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2633472"/>
            <a:ext cx="41148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3000" b="1">
                <a:solidFill>
                  <a:srgbClr val="30B5A4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2633472"/>
            <a:ext cx="41148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3000" b="1">
                <a:solidFill>
                  <a:srgbClr val="30B5A4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" y="4480560"/>
            <a:ext cx="10012680" cy="960120"/>
          </a:xfrm>
          <a:prstGeom prst="roundRect">
            <a:avLst/>
          </a:prstGeom>
          <a:solidFill>
            <a:srgbClr val="182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4681728"/>
            <a:ext cx="9464040" cy="502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000" b="1">
                <a:solidFill>
                  <a:srgbClr val="F7F9FC"/>
                </a:solidFill>
                <a:latin typeface="Aptos"/>
              </a:defRPr>
            </a:pPr>
            <a:r>
              <a:t>Resultado: se detectan preferentemente fuentes cercanas, masivas y bien orientadas.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417320" cy="292608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93192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00" b="1">
                <a:solidFill>
                  <a:srgbClr val="0C182B"/>
                </a:solidFill>
                <a:latin typeface="Aptos"/>
              </a:defRPr>
            </a:pPr>
            <a:r>
              <a:t>2 · RESULTADO PRINCIPAL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0392"/>
            <a:ext cx="109728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900" b="1">
                <a:solidFill>
                  <a:srgbClr val="F7F9FC"/>
                </a:solidFill>
                <a:latin typeface="Aptos"/>
              </a:defRPr>
            </a:pPr>
            <a:r>
              <a:t>El horizonte óptimo sobrestima el alcance típico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426464"/>
            <a:ext cx="1069848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BDCAD8"/>
                </a:solidFill>
                <a:latin typeface="Aptos"/>
              </a:defRPr>
            </a:pPr>
            <a:r>
              <a:t>Para GW150914, la orientación y la posición en el cielo reducen fuertemente el volumen accesible.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900" b="0">
                <a:solidFill>
                  <a:srgbClr val="BDCAD8"/>
                </a:solidFill>
                <a:latin typeface="Aptos"/>
              </a:defRPr>
            </a:pPr>
            <a:r>
              <a:t>LIGO selection  ·  Proyecto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965960"/>
            <a:ext cx="3456432" cy="2240280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2944368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100" b="1">
                <a:solidFill>
                  <a:srgbClr val="202B39"/>
                </a:solidFill>
                <a:latin typeface="Aptos"/>
              </a:defRPr>
            </a:pPr>
            <a:r>
              <a:t>HORIZONTE ÓPTIMO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697480"/>
            <a:ext cx="306324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3100" b="1">
                <a:solidFill>
                  <a:srgbClr val="202B39"/>
                </a:solidFill>
                <a:latin typeface="Aptos"/>
              </a:defRPr>
            </a:pPr>
            <a:r>
              <a:t>1 969.9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46704"/>
            <a:ext cx="3063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600" b="0">
                <a:solidFill>
                  <a:srgbClr val="202B39"/>
                </a:solidFill>
                <a:latin typeface="Aptos"/>
              </a:defRPr>
            </a:pPr>
            <a:r>
              <a:t>Mpc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21608"/>
            <a:ext cx="306324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0">
                <a:solidFill>
                  <a:srgbClr val="202B39"/>
                </a:solidFill>
                <a:latin typeface="Aptos"/>
              </a:defRPr>
            </a:pPr>
            <a:r>
              <a:t>mejor caso: fuente alineada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2743200"/>
            <a:ext cx="324612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700" b="1">
                <a:solidFill>
                  <a:srgbClr val="F17E3D"/>
                </a:solidFill>
                <a:latin typeface="Aptos"/>
              </a:defRPr>
            </a:pPr>
            <a:r>
              <a:t>÷ 2.2649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8" y="3246120"/>
            <a:ext cx="324612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200" b="0">
                <a:solidFill>
                  <a:srgbClr val="BDCAD8"/>
                </a:solidFill>
                <a:latin typeface="Aptos"/>
              </a:defRPr>
            </a:pPr>
            <a:r>
              <a:t>factor horizonte / rango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1965960"/>
            <a:ext cx="3456432" cy="2240280"/>
          </a:xfrm>
          <a:prstGeom prst="roundRect">
            <a:avLst/>
          </a:prstGeom>
          <a:solidFill>
            <a:srgbClr val="FF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2286000"/>
            <a:ext cx="297180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100" b="1">
                <a:solidFill>
                  <a:srgbClr val="202B39"/>
                </a:solidFill>
                <a:latin typeface="Aptos"/>
              </a:defRPr>
            </a:pPr>
            <a:r>
              <a:t>VOLUMEN EUCLÍDEO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6448" y="2697480"/>
            <a:ext cx="306324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3100" b="1">
                <a:solidFill>
                  <a:srgbClr val="202B39"/>
                </a:solidFill>
                <a:latin typeface="Aptos"/>
              </a:defRPr>
            </a:pPr>
            <a:r>
              <a:t>32.02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3346704"/>
            <a:ext cx="3063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600" b="0">
                <a:solidFill>
                  <a:srgbClr val="202B39"/>
                </a:solidFill>
                <a:latin typeface="Aptos"/>
              </a:defRPr>
            </a:pPr>
            <a:r>
              <a:t>Gpc³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3721608"/>
            <a:ext cx="306324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0">
                <a:solidFill>
                  <a:srgbClr val="202B39"/>
                </a:solidFill>
                <a:latin typeface="Aptos"/>
              </a:defRPr>
            </a:pPr>
            <a:r>
              <a:t>el volumen cambia como D³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3271" y="4782312"/>
            <a:ext cx="10104120" cy="667512"/>
          </a:xfrm>
          <a:prstGeom prst="roundRect">
            <a:avLst/>
          </a:prstGeom>
          <a:solidFill>
            <a:srgbClr val="182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919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600" b="1">
                <a:solidFill>
                  <a:srgbClr val="F7F9FC"/>
                </a:solidFill>
                <a:latin typeface="Aptos"/>
              </a:defRPr>
            </a:pPr>
            <a:r>
              <a:t>Una pequeña pérdida de alcance se amplifica cúbicamente en el número de eventos observables.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417320" cy="292608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93192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00" b="1">
                <a:solidFill>
                  <a:srgbClr val="0C182B"/>
                </a:solidFill>
                <a:latin typeface="Aptos"/>
              </a:defRPr>
            </a:pPr>
            <a:r>
              <a:t>3 · VALIDACIÓN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0392"/>
            <a:ext cx="109728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900" b="1">
                <a:solidFill>
                  <a:srgbClr val="F7F9FC"/>
                </a:solidFill>
                <a:latin typeface="Aptos"/>
              </a:defRPr>
            </a:pPr>
            <a:r>
              <a:t>Antes de estimar selección, recuperamos GW150914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426464"/>
            <a:ext cx="1069848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BDCAD8"/>
                </a:solidFill>
                <a:latin typeface="Aptos"/>
              </a:defRPr>
            </a:pPr>
            <a:r>
              <a:t>El mismo pipeline encuentra la señal conocida en datos reales de los dos detectores.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900" b="0">
                <a:solidFill>
                  <a:srgbClr val="BDCAD8"/>
                </a:solidFill>
                <a:latin typeface="Aptos"/>
              </a:defRPr>
            </a:pPr>
            <a:r>
              <a:t>LIGO selection  ·  Proyecto final</a:t>
            </a:r>
          </a:p>
        </p:txBody>
      </p:sp>
      <p:pic>
        <p:nvPicPr>
          <p:cNvPr id="7" name="Picture 6" descr="f01_snr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874519"/>
            <a:ext cx="6629400" cy="326595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18120" y="2057400"/>
            <a:ext cx="3246120" cy="932688"/>
          </a:xfrm>
          <a:prstGeom prst="roundRect">
            <a:avLst/>
          </a:prstGeom>
          <a:solidFill>
            <a:srgbClr val="FF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28431" y="2194560"/>
            <a:ext cx="137160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100" b="1">
                <a:solidFill>
                  <a:srgbClr val="202B39"/>
                </a:solidFill>
                <a:latin typeface="Aptos"/>
              </a:defRPr>
            </a:pPr>
            <a:r>
              <a:t>19.81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81160" y="2221992"/>
            <a:ext cx="153619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defRPr sz="1300" b="0">
                <a:solidFill>
                  <a:srgbClr val="202B39"/>
                </a:solidFill>
                <a:latin typeface="Aptos"/>
              </a:defRPr>
            </a:pPr>
            <a:r>
              <a:t>SNR en H1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246120"/>
            <a:ext cx="3246120" cy="932688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3383279"/>
            <a:ext cx="137160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100" b="1">
                <a:solidFill>
                  <a:srgbClr val="202B39"/>
                </a:solidFill>
                <a:latin typeface="Aptos"/>
              </a:defRPr>
            </a:pPr>
            <a:r>
              <a:t>13.54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410712"/>
            <a:ext cx="153619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defRPr sz="1300" b="0">
                <a:solidFill>
                  <a:srgbClr val="202B39"/>
                </a:solidFill>
                <a:latin typeface="Aptos"/>
              </a:defRPr>
            </a:pPr>
            <a:r>
              <a:t>SNR en L1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4434840"/>
            <a:ext cx="3246120" cy="932688"/>
          </a:xfrm>
          <a:prstGeom prst="roundRect">
            <a:avLst/>
          </a:prstGeom>
          <a:solidFill>
            <a:srgbClr val="FF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4572000"/>
            <a:ext cx="137160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100" b="1">
                <a:solidFill>
                  <a:srgbClr val="202B39"/>
                </a:solidFill>
                <a:latin typeface="Aptos"/>
              </a:defRPr>
            </a:pPr>
            <a:r>
              <a:t>−7.08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4599431"/>
            <a:ext cx="153619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defRPr sz="1300" b="0">
                <a:solidFill>
                  <a:srgbClr val="202B39"/>
                </a:solidFill>
                <a:latin typeface="Aptos"/>
              </a:defRPr>
            </a:pPr>
            <a:r>
              <a:t>L1 llega antes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7" y="5650992"/>
            <a:ext cx="3127248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200" b="1">
                <a:solidFill>
                  <a:srgbClr val="BDCAD8"/>
                </a:solidFill>
                <a:latin typeface="Aptos"/>
              </a:defRPr>
            </a:pPr>
            <a:r>
              <a:t>Además: match de waveform frente a LAL = 1.000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417320" cy="292608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93192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00" b="1">
                <a:solidFill>
                  <a:srgbClr val="0C182B"/>
                </a:solidFill>
                <a:latin typeface="Aptos"/>
              </a:defRPr>
            </a:pPr>
            <a:r>
              <a:t>4 · EXPERIENCIA / APRENDIZAJE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0392"/>
            <a:ext cx="109728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900" b="1">
                <a:solidFill>
                  <a:srgbClr val="F7F9FC"/>
                </a:solidFill>
                <a:latin typeface="Aptos"/>
              </a:defRPr>
            </a:pPr>
            <a:r>
              <a:t>La lección fue validar antes de inferir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426464"/>
            <a:ext cx="1069848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BDCAD8"/>
                </a:solidFill>
                <a:latin typeface="Aptos"/>
              </a:defRPr>
            </a:pPr>
            <a:r>
              <a:t>Cada afirmación importante quedó asociada a datos, una prueba y una limitación explícita.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900" b="0">
                <a:solidFill>
                  <a:srgbClr val="BDCAD8"/>
                </a:solidFill>
                <a:latin typeface="Aptos"/>
              </a:defRPr>
            </a:pPr>
            <a:r>
              <a:t>LIGO selection  ·  Proyecto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743200" cy="2651760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395728"/>
            <a:ext cx="640080" cy="3931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200" b="1">
                <a:solidFill>
                  <a:srgbClr val="30B5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990088"/>
            <a:ext cx="219456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700" b="1">
                <a:solidFill>
                  <a:srgbClr val="202B39"/>
                </a:solidFill>
                <a:latin typeface="Aptos"/>
              </a:defRPr>
            </a:pPr>
            <a:r>
              <a:t>Datos reproducibles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630168"/>
            <a:ext cx="2176272" cy="6217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202B39"/>
                </a:solidFill>
                <a:latin typeface="Aptos"/>
              </a:defRPr>
            </a:pPr>
            <a:r>
              <a:t>strain y waveforms</a:t>
            </a:r>
            <a:br/>
            <a:r>
              <a:t>verificados con hash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2148840"/>
            <a:ext cx="2743200" cy="2651760"/>
          </a:xfrm>
          <a:prstGeom prst="roundRect">
            <a:avLst/>
          </a:prstGeom>
          <a:solidFill>
            <a:srgbClr val="FF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395728"/>
            <a:ext cx="640080" cy="3931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200" b="1">
                <a:solidFill>
                  <a:srgbClr val="30B5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990088"/>
            <a:ext cx="219456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700" b="1">
                <a:solidFill>
                  <a:srgbClr val="202B39"/>
                </a:solidFill>
                <a:latin typeface="Aptos"/>
              </a:defRPr>
            </a:pPr>
            <a:r>
              <a:t>Tests antes que conclusiones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630168"/>
            <a:ext cx="2176272" cy="6217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202B39"/>
                </a:solidFill>
                <a:latin typeface="Aptos"/>
              </a:defRPr>
            </a:pPr>
            <a:r>
              <a:t>39 controles automáticos</a:t>
            </a:r>
            <a:br/>
            <a:r>
              <a:t>y figuras regenerables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2148840"/>
            <a:ext cx="2743200" cy="2651760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82711" y="2395728"/>
            <a:ext cx="640080" cy="3931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200" b="1">
                <a:solidFill>
                  <a:srgbClr val="30B5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990088"/>
            <a:ext cx="219456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700" b="1">
                <a:solidFill>
                  <a:srgbClr val="202B39"/>
                </a:solidFill>
                <a:latin typeface="Aptos"/>
              </a:defRPr>
            </a:pPr>
            <a:r>
              <a:t>Límites declarados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3630168"/>
            <a:ext cx="2176272" cy="6217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202B39"/>
                </a:solidFill>
                <a:latin typeface="Aptos"/>
              </a:defRPr>
            </a:pPr>
            <a:r>
              <a:t>TaylorF2 subestima</a:t>
            </a:r>
            <a:br/>
            <a:r>
              <a:t>sistemas pesados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358384"/>
            <a:ext cx="9784080" cy="502920"/>
          </a:xfrm>
          <a:prstGeom prst="roundRect">
            <a:avLst/>
          </a:prstGeom>
          <a:solidFill>
            <a:srgbClr val="182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5458968"/>
            <a:ext cx="928116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400" b="1">
                <a:solidFill>
                  <a:srgbClr val="F7F9FC"/>
                </a:solidFill>
                <a:latin typeface="Aptos"/>
              </a:defRPr>
            </a:pPr>
            <a:r>
              <a:t>Un resultado confiable no es solo un número: es un número que puede volver a producirse y discutirse.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417320" cy="292608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93192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00" b="1">
                <a:solidFill>
                  <a:srgbClr val="0C182B"/>
                </a:solidFill>
                <a:latin typeface="Aptos"/>
              </a:defRPr>
            </a:pPr>
            <a: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0392"/>
            <a:ext cx="109728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900" b="1">
                <a:solidFill>
                  <a:srgbClr val="F7F9FC"/>
                </a:solidFill>
                <a:latin typeface="Aptos"/>
              </a:defRPr>
            </a:pPr>
            <a:r>
              <a:t>Modelar la selección es el primer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900" b="0">
                <a:solidFill>
                  <a:srgbClr val="BDCAD8"/>
                </a:solidFill>
                <a:latin typeface="Aptos"/>
              </a:defRPr>
            </a:pPr>
            <a:r>
              <a:t>LIGO selection  ·  Proyecto final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10561320" cy="1005840"/>
          </a:xfrm>
          <a:prstGeom prst="roundRect">
            <a:avLst/>
          </a:prstGeom>
          <a:solidFill>
            <a:srgbClr val="182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76272"/>
            <a:ext cx="9966960" cy="502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100" b="1">
                <a:solidFill>
                  <a:srgbClr val="F7F9FC"/>
                </a:solidFill>
                <a:latin typeface="Aptos"/>
              </a:defRPr>
            </a:pPr>
            <a:r>
              <a:t>El universo observado por LIGO es una población filtrada por distancia, masa y geometría.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03320"/>
            <a:ext cx="274320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400" b="1">
                <a:solidFill>
                  <a:srgbClr val="30B5A4"/>
                </a:solidFill>
                <a:latin typeface="Aptos"/>
              </a:defRPr>
            </a:pPr>
            <a:r>
              <a:t>Siguiente 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96512"/>
            <a:ext cx="9738360" cy="9601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000" b="1">
                <a:solidFill>
                  <a:srgbClr val="F7F9FC"/>
                </a:solidFill>
                <a:latin typeface="Aptos"/>
              </a:defRPr>
            </a:pPr>
            <a:r>
              <a:t>Campaña de inyecciones: simular una población, insertarla en datos reales y medir qué fracción recupera la 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5623560"/>
            <a:ext cx="1828800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defRPr sz="2300" b="1">
                <a:solidFill>
                  <a:srgbClr val="30B5A4"/>
                </a:solidFill>
                <a:latin typeface="Aptos"/>
              </a:defRPr>
            </a:pPr>
            <a:r>
              <a:t>Gracias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914400"/>
            <a:ext cx="1737360" cy="310896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60020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1">
                <a:solidFill>
                  <a:srgbClr val="0C182B"/>
                </a:solidFill>
                <a:latin typeface="Aptos"/>
              </a:defRPr>
            </a:pPr>
            <a:r>
              <a:t>PROYECTO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10332720" cy="685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3500" b="1">
                <a:solidFill>
                  <a:srgbClr val="F7F9FC"/>
                </a:solidFill>
                <a:latin typeface="Aptos"/>
              </a:defRPr>
            </a:pPr>
            <a:r>
              <a:t>Gracias por escucharnos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100" b="0">
                <a:solidFill>
                  <a:srgbClr val="30B5A4"/>
                </a:solidFill>
                <a:latin typeface="Aptos"/>
              </a:defRPr>
            </a:pPr>
            <a:r>
              <a:t>Esperamos sus preguntas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4005072"/>
            <a:ext cx="3520440" cy="64008"/>
          </a:xfrm>
          <a:prstGeom prst="rect">
            <a:avLst/>
          </a:prstGeom>
          <a:solidFill>
            <a:srgbClr val="F1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1033272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600" b="0">
                <a:solidFill>
                  <a:srgbClr val="BDCAD8"/>
                </a:solidFill>
                <a:latin typeface="Aptos"/>
              </a:defRPr>
            </a:pPr>
            <a:r>
              <a:t>Tomás Carpintieri · Agustín Miculicich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57800"/>
            <a:ext cx="1033272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400" b="0">
                <a:solidFill>
                  <a:srgbClr val="BDCAD8"/>
                </a:solidFill>
                <a:latin typeface="Aptos"/>
              </a:defRPr>
            </a:pPr>
            <a:r>
              <a:t>Universidad de Buenos Aires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