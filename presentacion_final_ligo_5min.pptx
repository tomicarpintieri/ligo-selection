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s. Presentar la pregunta guía: una detección no es una muestra neutral del universo; el detector favorece ciertas fuentes.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s. La pregunta no es solamente si una fusión existe, sino qué tan probable es que esta red la detecte. Esa probabilidad sesga cualquier conclusión sobre poblaciones de agujeros negros.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55 s. Este es el resultado central. El horizonte es el caso ideal; al promediar la respuesta angular, horizonte/rango es 2.2649. Como el volumen crece como distancia al cubo, no modelar selección afecta mucho los conteos.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55 s. Mostrar el pico en ambos detectores. El test de control recupera SNR 19.81 en Hanford y 13.54 en Livingston, con el retraso esperado. También contrastamos nuestra waveform con LAL: match 1.000. La geometría de los sitios da un máximo de 10.013 ms; el retardo de este evento es menor y solo delimita un anillo en el cielo.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s. Esta fue la dificultad y el aprendizaje del proyecto: un test reveló que el corte de inspiral estaba apagado y otro que la normalización de whitening daba 0.442 en vez de 0.965. No se aflojó ningún margen: se buscó la causa y se llegó a 0.959. El pipeline tiene datos hasheados, tests y procedencia. TaylorF2 inspiral-only sigue siendo una limitación declarada.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s. Cerrar con el resultado: el catálogo favorece fuentes cercanas, masivas y bien orientadas. El piloto en ruido real recuperó 39.6% frente a 4.2% de fondo. Aclarar que el próximo paso es IMR para cubrir bien sistemas pesados. Abrir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esta diapositiva visible durante las preguntas. No hace falta decir más que: gracias por escucharnos; esperamos sus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713232"/>
            <a:ext cx="1572768" cy="310896"/>
          </a:xfrm>
          <a:prstGeom prst="roundRect">
            <a:avLst/>
          </a:prstGeom>
          <a:solidFill>
            <a:srgbClr val="30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694944"/>
            <a:ext cx="1426464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000" b="1">
                <a:solidFill>
                  <a:srgbClr val="0C182B"/>
                </a:solidFill>
                <a:latin typeface="Aptos"/>
              </a:defRPr>
            </a:pPr>
            <a:r>
              <a:t>PROYECTO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298448"/>
            <a:ext cx="10469880" cy="16916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3100" b="1">
                <a:solidFill>
                  <a:srgbClr val="F7F9FC"/>
                </a:solidFill>
                <a:latin typeface="Aptos"/>
              </a:defRPr>
            </a:pPr>
            <a:r>
              <a:t>¿De qué es ciego LIGO?</a:t>
            </a:r>
            <a:br/>
            <a:r>
              <a:t>Efectos de selección en el catálogo de fusiones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3273552"/>
            <a:ext cx="978408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700" b="0">
                <a:solidFill>
                  <a:srgbClr val="BDCAD8"/>
                </a:solidFill>
                <a:latin typeface="Aptos"/>
              </a:defRPr>
            </a:pPr>
            <a:r>
              <a:t>Proyecto final · Ondas Gravitacionales e Investigación Asistida por IA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4800600"/>
            <a:ext cx="3566160" cy="73152"/>
          </a:xfrm>
          <a:prstGeom prst="rect">
            <a:avLst/>
          </a:prstGeom>
          <a:solidFill>
            <a:srgbClr val="F1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5074920"/>
            <a:ext cx="5303520" cy="594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600" b="0">
                <a:solidFill>
                  <a:srgbClr val="F7F9FC"/>
                </a:solidFill>
                <a:latin typeface="Aptos"/>
              </a:defRPr>
            </a:pPr>
            <a:r>
              <a:t>Tomás Carpintieri · Agustín Miculicich</a:t>
            </a:r>
            <a:br/>
            <a:r>
              <a:t>Universidad de Buenos Aires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40" y="5897880"/>
            <a:ext cx="1188720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defRPr sz="1400" b="1">
                <a:solidFill>
                  <a:srgbClr val="30B5A4"/>
                </a:solidFill>
                <a:latin typeface="Aptos"/>
              </a:defRPr>
            </a:pPr>
            <a:r>
              <a:t>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11480"/>
            <a:ext cx="1417320" cy="292608"/>
          </a:xfrm>
          <a:prstGeom prst="roundRect">
            <a:avLst/>
          </a:prstGeom>
          <a:solidFill>
            <a:srgbClr val="30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93192"/>
            <a:ext cx="1280160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900" b="1">
                <a:solidFill>
                  <a:srgbClr val="0C182B"/>
                </a:solidFill>
                <a:latin typeface="Aptos"/>
              </a:defRPr>
            </a:pPr>
            <a:r>
              <a:t>1 ·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50392"/>
            <a:ext cx="1097280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900" b="1">
                <a:solidFill>
                  <a:srgbClr val="F7F9FC"/>
                </a:solidFill>
                <a:latin typeface="Aptos"/>
              </a:defRPr>
            </a:pPr>
            <a:r>
              <a:t>El catálogo observado no es el universo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426464"/>
            <a:ext cx="1069848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300" b="0">
                <a:solidFill>
                  <a:srgbClr val="BDCAD8"/>
                </a:solidFill>
                <a:latin typeface="Aptos"/>
              </a:defRPr>
            </a:pPr>
            <a:r>
              <a:t>La detectabilidad depende tanto de la fuente como de la geometría del detector.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365760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900" b="0">
                <a:solidFill>
                  <a:srgbClr val="BDCAD8"/>
                </a:solidFill>
                <a:latin typeface="Aptos"/>
              </a:defRPr>
            </a:pPr>
            <a:r>
              <a:t>LIGO selection  ·  Proyecto final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2606040" cy="1463040"/>
          </a:xfrm>
          <a:prstGeom prst="roundRect">
            <a:avLst/>
          </a:prstGeom>
          <a:solidFill>
            <a:srgbClr val="D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5" y="2423160"/>
            <a:ext cx="2148840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000" b="1">
                <a:solidFill>
                  <a:srgbClr val="202B39"/>
                </a:solidFill>
                <a:latin typeface="Aptos"/>
              </a:defRPr>
            </a:pPr>
            <a:r>
              <a:t>FUENTE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761488"/>
            <a:ext cx="2267712" cy="594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900" b="1">
                <a:solidFill>
                  <a:srgbClr val="202B39"/>
                </a:solidFill>
                <a:latin typeface="Aptos"/>
              </a:defRPr>
            </a:pPr>
            <a:r>
              <a:t>masa</a:t>
            </a:r>
            <a:br/>
            <a:r>
              <a:t>distancia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2240280"/>
            <a:ext cx="2606040" cy="1463040"/>
          </a:xfrm>
          <a:prstGeom prst="roundRect">
            <a:avLst/>
          </a:prstGeom>
          <a:solidFill>
            <a:srgbClr val="FFE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71416" y="2423160"/>
            <a:ext cx="2148840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000" b="1">
                <a:solidFill>
                  <a:srgbClr val="202B39"/>
                </a:solidFill>
                <a:latin typeface="Aptos"/>
              </a:defRPr>
            </a:pPr>
            <a:r>
              <a:t>GEOMETRÍA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6552" y="2761488"/>
            <a:ext cx="2267712" cy="594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900" b="1">
                <a:solidFill>
                  <a:srgbClr val="202B39"/>
                </a:solidFill>
                <a:latin typeface="Aptos"/>
              </a:defRPr>
            </a:pPr>
            <a:r>
              <a:t>cielo</a:t>
            </a:r>
            <a:br/>
            <a:r>
              <a:t>orientación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2240280"/>
            <a:ext cx="2606040" cy="1463040"/>
          </a:xfrm>
          <a:prstGeom prst="roundRect">
            <a:avLst/>
          </a:prstGeom>
          <a:solidFill>
            <a:srgbClr val="D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46136" y="2423160"/>
            <a:ext cx="2148840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000" b="1">
                <a:solidFill>
                  <a:srgbClr val="202B39"/>
                </a:solidFill>
                <a:latin typeface="Aptos"/>
              </a:defRPr>
            </a:pPr>
            <a:r>
              <a:t>INSTRUMENTO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91271" y="2761488"/>
            <a:ext cx="2267712" cy="594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900" b="1">
                <a:solidFill>
                  <a:srgbClr val="202B39"/>
                </a:solidFill>
                <a:latin typeface="Aptos"/>
              </a:defRPr>
            </a:pPr>
            <a:r>
              <a:t>ruido</a:t>
            </a:r>
            <a:br/>
            <a:r>
              <a:t>umbral SNR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6432" y="2633472"/>
            <a:ext cx="41148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3000" b="1">
                <a:solidFill>
                  <a:srgbClr val="30B5A4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31152" y="2633472"/>
            <a:ext cx="41148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3000" b="1">
                <a:solidFill>
                  <a:srgbClr val="30B5A4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51560" y="4480560"/>
            <a:ext cx="10012680" cy="960120"/>
          </a:xfrm>
          <a:prstGeom prst="roundRect">
            <a:avLst/>
          </a:prstGeom>
          <a:solidFill>
            <a:srgbClr val="182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4681728"/>
            <a:ext cx="9464040" cy="5029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2000" b="1">
                <a:solidFill>
                  <a:srgbClr val="F7F9FC"/>
                </a:solidFill>
                <a:latin typeface="Aptos"/>
              </a:defRPr>
            </a:pPr>
            <a:r>
              <a:t>Resultado: se detectan preferentemente fuentes cercanas, masivas y bien orientadas.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11480"/>
            <a:ext cx="1417320" cy="292608"/>
          </a:xfrm>
          <a:prstGeom prst="roundRect">
            <a:avLst/>
          </a:prstGeom>
          <a:solidFill>
            <a:srgbClr val="30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93192"/>
            <a:ext cx="1280160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900" b="1">
                <a:solidFill>
                  <a:srgbClr val="0C182B"/>
                </a:solidFill>
                <a:latin typeface="Aptos"/>
              </a:defRPr>
            </a:pPr>
            <a:r>
              <a:t>2 · RESULTADO PRINCIPAL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50392"/>
            <a:ext cx="1097280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900" b="1">
                <a:solidFill>
                  <a:srgbClr val="F7F9FC"/>
                </a:solidFill>
                <a:latin typeface="Aptos"/>
              </a:defRPr>
            </a:pPr>
            <a:r>
              <a:t>El horizonte óptimo sobrestima el alcance típico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426464"/>
            <a:ext cx="1069848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300" b="0">
                <a:solidFill>
                  <a:srgbClr val="BDCAD8"/>
                </a:solidFill>
                <a:latin typeface="Aptos"/>
              </a:defRPr>
            </a:pPr>
            <a:r>
              <a:t>Para GW150914, la orientación y la posición en el cielo reducen fuertemente el volumen accesible.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365760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900" b="0">
                <a:solidFill>
                  <a:srgbClr val="BDCAD8"/>
                </a:solidFill>
                <a:latin typeface="Aptos"/>
              </a:defRPr>
            </a:pPr>
            <a:r>
              <a:t>LIGO selection  ·  Proyecto final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965960"/>
            <a:ext cx="3456432" cy="2240280"/>
          </a:xfrm>
          <a:prstGeom prst="roundRect">
            <a:avLst/>
          </a:prstGeom>
          <a:solidFill>
            <a:srgbClr val="D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2944368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100" b="1">
                <a:solidFill>
                  <a:srgbClr val="202B39"/>
                </a:solidFill>
                <a:latin typeface="Aptos"/>
              </a:defRPr>
            </a:pPr>
            <a:r>
              <a:t>HORIZONTE ÓPTIMO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697480"/>
            <a:ext cx="306324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3100" b="1">
                <a:solidFill>
                  <a:srgbClr val="202B39"/>
                </a:solidFill>
                <a:latin typeface="Aptos"/>
              </a:defRPr>
            </a:pPr>
            <a:r>
              <a:t>1,969.9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346704"/>
            <a:ext cx="3063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600" b="0">
                <a:solidFill>
                  <a:srgbClr val="202B39"/>
                </a:solidFill>
                <a:latin typeface="Aptos"/>
              </a:defRPr>
            </a:pPr>
            <a:r>
              <a:t>Mpc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721608"/>
            <a:ext cx="306324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000" b="0">
                <a:solidFill>
                  <a:srgbClr val="202B39"/>
                </a:solidFill>
                <a:latin typeface="Aptos"/>
              </a:defRPr>
            </a:pPr>
            <a:r>
              <a:t>mejor caso: fuente alineada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2743200"/>
            <a:ext cx="324612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2700" b="1">
                <a:solidFill>
                  <a:srgbClr val="F17E3D"/>
                </a:solidFill>
                <a:latin typeface="Aptos"/>
              </a:defRPr>
            </a:pPr>
            <a:r>
              <a:t>÷ 2.2649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7408" y="3246120"/>
            <a:ext cx="324612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200" b="0">
                <a:solidFill>
                  <a:srgbClr val="BDCAD8"/>
                </a:solidFill>
                <a:latin typeface="Aptos"/>
              </a:defRPr>
            </a:pPr>
            <a:r>
              <a:t>factor horizonte / rango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3568" y="1965960"/>
            <a:ext cx="3456432" cy="2240280"/>
          </a:xfrm>
          <a:prstGeom prst="roundRect">
            <a:avLst/>
          </a:prstGeom>
          <a:solidFill>
            <a:srgbClr val="FFE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1312" y="2286000"/>
            <a:ext cx="297180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100" b="1">
                <a:solidFill>
                  <a:srgbClr val="202B39"/>
                </a:solidFill>
                <a:latin typeface="Aptos"/>
              </a:defRPr>
            </a:pPr>
            <a:r>
              <a:t>VOLUMEN EUCLÍDEO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6448" y="2697480"/>
            <a:ext cx="306324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3100" b="1">
                <a:solidFill>
                  <a:srgbClr val="202B39"/>
                </a:solidFill>
                <a:latin typeface="Aptos"/>
              </a:defRPr>
            </a:pPr>
            <a:r>
              <a:t>32.02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6448" y="3346704"/>
            <a:ext cx="3063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600" b="0">
                <a:solidFill>
                  <a:srgbClr val="202B39"/>
                </a:solidFill>
                <a:latin typeface="Aptos"/>
              </a:defRPr>
            </a:pPr>
            <a:r>
              <a:t>Gpc³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3721608"/>
            <a:ext cx="306324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000" b="0">
                <a:solidFill>
                  <a:srgbClr val="202B39"/>
                </a:solidFill>
                <a:latin typeface="Aptos"/>
              </a:defRPr>
            </a:pPr>
            <a:r>
              <a:t>el volumen cambia como D³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33271" y="4782312"/>
            <a:ext cx="10104120" cy="667512"/>
          </a:xfrm>
          <a:prstGeom prst="roundRect">
            <a:avLst/>
          </a:prstGeom>
          <a:solidFill>
            <a:srgbClr val="182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0160" y="4919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600" b="1">
                <a:solidFill>
                  <a:srgbClr val="F7F9FC"/>
                </a:solidFill>
                <a:latin typeface="Aptos"/>
              </a:defRPr>
            </a:pPr>
            <a:r>
              <a:t>Una pequeña pérdida de alcance se amplifica cúbicamente en el número de eventos observables.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11480"/>
            <a:ext cx="1417320" cy="292608"/>
          </a:xfrm>
          <a:prstGeom prst="roundRect">
            <a:avLst/>
          </a:prstGeom>
          <a:solidFill>
            <a:srgbClr val="30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93192"/>
            <a:ext cx="1280160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900" b="1">
                <a:solidFill>
                  <a:srgbClr val="0C182B"/>
                </a:solidFill>
                <a:latin typeface="Aptos"/>
              </a:defRPr>
            </a:pPr>
            <a:r>
              <a:t>3 · VALIDACIÓN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50392"/>
            <a:ext cx="1097280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900" b="1">
                <a:solidFill>
                  <a:srgbClr val="F7F9FC"/>
                </a:solidFill>
                <a:latin typeface="Aptos"/>
              </a:defRPr>
            </a:pPr>
            <a:r>
              <a:t>Antes de estimar selección, recuperamos GW150914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426464"/>
            <a:ext cx="1069848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300" b="0">
                <a:solidFill>
                  <a:srgbClr val="BDCAD8"/>
                </a:solidFill>
                <a:latin typeface="Aptos"/>
              </a:defRPr>
            </a:pPr>
            <a:r>
              <a:t>El mismo pipeline encuentra la señal conocida en datos reales de los dos detectores.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365760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900" b="0">
                <a:solidFill>
                  <a:srgbClr val="BDCAD8"/>
                </a:solidFill>
                <a:latin typeface="Aptos"/>
              </a:defRPr>
            </a:pPr>
            <a:r>
              <a:t>LIGO selection  ·  Proyecto final</a:t>
            </a:r>
          </a:p>
        </p:txBody>
      </p:sp>
      <p:pic>
        <p:nvPicPr>
          <p:cNvPr id="7" name="Picture 6" descr="f01_snr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874519"/>
            <a:ext cx="6629400" cy="326595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818120" y="2057400"/>
            <a:ext cx="3246120" cy="932688"/>
          </a:xfrm>
          <a:prstGeom prst="roundRect">
            <a:avLst/>
          </a:prstGeom>
          <a:solidFill>
            <a:srgbClr val="FFE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28431" y="2194560"/>
            <a:ext cx="137160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100" b="1">
                <a:solidFill>
                  <a:srgbClr val="202B39"/>
                </a:solidFill>
                <a:latin typeface="Aptos"/>
              </a:defRPr>
            </a:pPr>
            <a:r>
              <a:t>19.81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81160" y="2221992"/>
            <a:ext cx="1536192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defRPr sz="1300" b="0">
                <a:solidFill>
                  <a:srgbClr val="202B39"/>
                </a:solidFill>
                <a:latin typeface="Aptos"/>
              </a:defRPr>
            </a:pPr>
            <a:r>
              <a:t>SNR en H1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3246120"/>
            <a:ext cx="3246120" cy="932688"/>
          </a:xfrm>
          <a:prstGeom prst="roundRect">
            <a:avLst/>
          </a:prstGeom>
          <a:solidFill>
            <a:srgbClr val="D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3383279"/>
            <a:ext cx="137160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100" b="1">
                <a:solidFill>
                  <a:srgbClr val="202B39"/>
                </a:solidFill>
                <a:latin typeface="Aptos"/>
              </a:defRPr>
            </a:pPr>
            <a:r>
              <a:t>13.54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1160" y="3410712"/>
            <a:ext cx="1536192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defRPr sz="1300" b="0">
                <a:solidFill>
                  <a:srgbClr val="202B39"/>
                </a:solidFill>
                <a:latin typeface="Aptos"/>
              </a:defRPr>
            </a:pPr>
            <a:r>
              <a:t>SNR en L1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18120" y="4434840"/>
            <a:ext cx="3246120" cy="932688"/>
          </a:xfrm>
          <a:prstGeom prst="roundRect">
            <a:avLst/>
          </a:prstGeom>
          <a:solidFill>
            <a:srgbClr val="FFE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8431" y="4572000"/>
            <a:ext cx="137160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100" b="1">
                <a:solidFill>
                  <a:srgbClr val="202B39"/>
                </a:solidFill>
                <a:latin typeface="Aptos"/>
              </a:defRPr>
            </a:pPr>
            <a:r>
              <a:t>-7.08 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1160" y="4599431"/>
            <a:ext cx="1536192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defRPr sz="1300" b="0">
                <a:solidFill>
                  <a:srgbClr val="202B39"/>
                </a:solidFill>
                <a:latin typeface="Aptos"/>
              </a:defRPr>
            </a:pPr>
            <a:r>
              <a:t>L1 llega antes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82127" y="5650992"/>
            <a:ext cx="3127248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200" b="1">
                <a:solidFill>
                  <a:srgbClr val="BDCAD8"/>
                </a:solidFill>
                <a:latin typeface="Aptos"/>
              </a:defRPr>
            </a:pPr>
            <a:r>
              <a:t>Además: match de waveform frente a LAL = 1.000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82127" y="5961888"/>
            <a:ext cx="3127248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000" b="0">
                <a:solidFill>
                  <a:srgbClr val="BDCAD8"/>
                </a:solidFill>
                <a:latin typeface="Aptos"/>
              </a:defRPr>
            </a:pPr>
            <a:r>
              <a:t>Máximo retardo geométrico H1–L1 = 10.013 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11480"/>
            <a:ext cx="1417320" cy="292608"/>
          </a:xfrm>
          <a:prstGeom prst="roundRect">
            <a:avLst/>
          </a:prstGeom>
          <a:solidFill>
            <a:srgbClr val="30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93192"/>
            <a:ext cx="1280160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900" b="1">
                <a:solidFill>
                  <a:srgbClr val="0C182B"/>
                </a:solidFill>
                <a:latin typeface="Aptos"/>
              </a:defRPr>
            </a:pPr>
            <a:r>
              <a:t>4 · EXPERIENCIA / APRENDIZAJE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50392"/>
            <a:ext cx="1097280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900" b="1">
                <a:solidFill>
                  <a:srgbClr val="F7F9FC"/>
                </a:solidFill>
                <a:latin typeface="Aptos"/>
              </a:defRPr>
            </a:pPr>
            <a:r>
              <a:t>La lección fue validar antes de inferir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426464"/>
            <a:ext cx="1069848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300" b="0">
                <a:solidFill>
                  <a:srgbClr val="BDCAD8"/>
                </a:solidFill>
                <a:latin typeface="Aptos"/>
              </a:defRPr>
            </a:pPr>
            <a:r>
              <a:t>Cada afirmación importante quedó asociada a datos, una prueba y una limitación explícita.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365760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900" b="0">
                <a:solidFill>
                  <a:srgbClr val="BDCAD8"/>
                </a:solidFill>
                <a:latin typeface="Aptos"/>
              </a:defRPr>
            </a:pPr>
            <a:r>
              <a:t>LIGO selection  ·  Proyecto final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743200" cy="2651760"/>
          </a:xfrm>
          <a:prstGeom prst="roundRect">
            <a:avLst/>
          </a:prstGeom>
          <a:solidFill>
            <a:srgbClr val="D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" y="2395728"/>
            <a:ext cx="640080" cy="3931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200" b="1">
                <a:solidFill>
                  <a:srgbClr val="30B5A4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990088"/>
            <a:ext cx="219456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700" b="1">
                <a:solidFill>
                  <a:srgbClr val="202B39"/>
                </a:solidFill>
                <a:latin typeface="Aptos"/>
              </a:defRPr>
            </a:pPr>
            <a:r>
              <a:t>Datos reproducibles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630168"/>
            <a:ext cx="2176272" cy="6217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300" b="0">
                <a:solidFill>
                  <a:srgbClr val="202B39"/>
                </a:solidFill>
                <a:latin typeface="Aptos"/>
              </a:defRPr>
            </a:pPr>
            <a:r>
              <a:t>strain y waveforms</a:t>
            </a:r>
            <a:br/>
            <a:r>
              <a:t>verificados con hash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2148840"/>
            <a:ext cx="2743200" cy="2651760"/>
          </a:xfrm>
          <a:prstGeom prst="roundRect">
            <a:avLst/>
          </a:prstGeom>
          <a:solidFill>
            <a:srgbClr val="FFE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2395728"/>
            <a:ext cx="640080" cy="3931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200" b="1">
                <a:solidFill>
                  <a:srgbClr val="30B5A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990088"/>
            <a:ext cx="219456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700" b="1">
                <a:solidFill>
                  <a:srgbClr val="202B39"/>
                </a:solidFill>
                <a:latin typeface="Aptos"/>
              </a:defRPr>
            </a:pPr>
            <a:r>
              <a:t>Un fallo nos frenó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630168"/>
            <a:ext cx="2176272" cy="6217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300" b="0">
                <a:solidFill>
                  <a:srgbClr val="202B39"/>
                </a:solidFill>
                <a:latin typeface="Aptos"/>
              </a:defRPr>
            </a:pPr>
            <a:r>
              <a:t>el corte inspiral estaba</a:t>
            </a:r>
            <a:br/>
            <a:r>
              <a:t>desactivado; lo detectó un test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26679" y="2148840"/>
            <a:ext cx="2743200" cy="2651760"/>
          </a:xfrm>
          <a:prstGeom prst="roundRect">
            <a:avLst/>
          </a:prstGeom>
          <a:solidFill>
            <a:srgbClr val="D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82711" y="2395728"/>
            <a:ext cx="640080" cy="3931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200" b="1">
                <a:solidFill>
                  <a:srgbClr val="30B5A4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990088"/>
            <a:ext cx="219456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700" b="1">
                <a:solidFill>
                  <a:srgbClr val="202B39"/>
                </a:solidFill>
                <a:latin typeface="Aptos"/>
              </a:defRPr>
            </a:pPr>
            <a:r>
              <a:t>No aflojamos el margen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3630168"/>
            <a:ext cx="2176272" cy="6217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300" b="0">
                <a:solidFill>
                  <a:srgbClr val="202B39"/>
                </a:solidFill>
                <a:latin typeface="Aptos"/>
              </a:defRPr>
            </a:pPr>
            <a:r>
              <a:t>la varianza whitening</a:t>
            </a:r>
            <a:br/>
            <a:r>
              <a:t>0.442 se corrigió a 0.959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5358384"/>
            <a:ext cx="9784080" cy="502920"/>
          </a:xfrm>
          <a:prstGeom prst="roundRect">
            <a:avLst/>
          </a:prstGeom>
          <a:solidFill>
            <a:srgbClr val="182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89888" y="5458968"/>
            <a:ext cx="928116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400" b="1">
                <a:solidFill>
                  <a:srgbClr val="F7F9FC"/>
                </a:solidFill>
                <a:latin typeface="Aptos"/>
              </a:defRPr>
            </a:pPr>
            <a:r>
              <a:t>Un resultado confiable no es solo un número: es un número que puede volver a producirse y discutirse.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11480"/>
            <a:ext cx="1417320" cy="292608"/>
          </a:xfrm>
          <a:prstGeom prst="roundRect">
            <a:avLst/>
          </a:prstGeom>
          <a:solidFill>
            <a:srgbClr val="30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93192"/>
            <a:ext cx="1280160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900" b="1">
                <a:solidFill>
                  <a:srgbClr val="0C182B"/>
                </a:solidFill>
                <a:latin typeface="Aptos"/>
              </a:defRPr>
            </a:pPr>
            <a:r>
              <a:t>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50392"/>
            <a:ext cx="1097280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900" b="1">
                <a:solidFill>
                  <a:srgbClr val="F7F9FC"/>
                </a:solidFill>
                <a:latin typeface="Aptos"/>
              </a:defRPr>
            </a:pPr>
            <a:r>
              <a:t>Modelar la selección es el primer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365760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900" b="0">
                <a:solidFill>
                  <a:srgbClr val="BDCAD8"/>
                </a:solidFill>
                <a:latin typeface="Aptos"/>
              </a:defRPr>
            </a:pPr>
            <a:r>
              <a:t>LIGO selection  ·  Proyecto final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65960"/>
            <a:ext cx="10561320" cy="1005840"/>
          </a:xfrm>
          <a:prstGeom prst="roundRect">
            <a:avLst/>
          </a:prstGeom>
          <a:solidFill>
            <a:srgbClr val="182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76272"/>
            <a:ext cx="9966960" cy="5029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2100" b="1">
                <a:solidFill>
                  <a:srgbClr val="F7F9FC"/>
                </a:solidFill>
                <a:latin typeface="Aptos"/>
              </a:defRPr>
            </a:pPr>
            <a:r>
              <a:t>El universo observado por LIGO es una población filtrada por distancia, masa y geometría.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82112"/>
            <a:ext cx="1024128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300" b="1">
                <a:solidFill>
                  <a:srgbClr val="BDCAD8"/>
                </a:solidFill>
                <a:latin typeface="Aptos"/>
              </a:defRPr>
            </a:pPr>
            <a:r>
              <a:t>Hallazgo: favorece fuentes cercanas, más masivas y bien orientadas. El piloto recuperó 39.6% de inyecciones, frente a 4.2% de fondo.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274320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400" b="1">
                <a:solidFill>
                  <a:srgbClr val="30B5A4"/>
                </a:solidFill>
                <a:latin typeface="Aptos"/>
              </a:defRPr>
            </a:pPr>
            <a:r>
              <a:t>Siguiente paso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096512"/>
            <a:ext cx="9738360" cy="9601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000" b="1">
                <a:solidFill>
                  <a:srgbClr val="F7F9FC"/>
                </a:solidFill>
                <a:latin typeface="Aptos"/>
              </a:defRPr>
            </a:pPr>
            <a:r>
              <a:t>Campaña IMR: ampliar la población, incluir fusión y ringdown, y medir la función de selección de la red.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72600" y="5623560"/>
            <a:ext cx="1828800" cy="4114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defRPr sz="2300" b="1">
                <a:solidFill>
                  <a:srgbClr val="30B5A4"/>
                </a:solidFill>
                <a:latin typeface="Aptos"/>
              </a:defRPr>
            </a:pPr>
            <a:r>
              <a:t>Gracias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914400"/>
            <a:ext cx="1737360" cy="310896"/>
          </a:xfrm>
          <a:prstGeom prst="roundRect">
            <a:avLst/>
          </a:prstGeom>
          <a:solidFill>
            <a:srgbClr val="30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600200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000" b="1">
                <a:solidFill>
                  <a:srgbClr val="0C182B"/>
                </a:solidFill>
                <a:latin typeface="Aptos"/>
              </a:defRPr>
            </a:pPr>
            <a:r>
              <a:t>PROYECTO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48840"/>
            <a:ext cx="10332720" cy="685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3500" b="1">
                <a:solidFill>
                  <a:srgbClr val="F7F9FC"/>
                </a:solidFill>
                <a:latin typeface="Aptos"/>
              </a:defRPr>
            </a:pPr>
            <a:r>
              <a:t>Gracias por escucharnos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63240"/>
            <a:ext cx="10332720" cy="4114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2100" b="0">
                <a:solidFill>
                  <a:srgbClr val="30B5A4"/>
                </a:solidFill>
                <a:latin typeface="Aptos"/>
              </a:defRPr>
            </a:pPr>
            <a:r>
              <a:t>Esperamos sus preguntas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4343400" y="4005072"/>
            <a:ext cx="3520440" cy="64008"/>
          </a:xfrm>
          <a:prstGeom prst="rect">
            <a:avLst/>
          </a:prstGeom>
          <a:solidFill>
            <a:srgbClr val="F1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800600"/>
            <a:ext cx="1033272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600" b="0">
                <a:solidFill>
                  <a:srgbClr val="BDCAD8"/>
                </a:solidFill>
                <a:latin typeface="Aptos"/>
              </a:defRPr>
            </a:pPr>
            <a:r>
              <a:t>Tomás Carpintieri · Agustín Miculicich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257800"/>
            <a:ext cx="10332720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400" b="0">
                <a:solidFill>
                  <a:srgbClr val="BDCAD8"/>
                </a:solidFill>
                <a:latin typeface="Aptos"/>
              </a:defRPr>
            </a:pPr>
            <a:r>
              <a:t>Universidad de Buenos Aires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