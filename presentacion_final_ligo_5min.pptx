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Presentar la pregunta guía: una detección no es una muestra neutral del universo; el detector favorece ciertas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La pregunta no es solamente si una fusión existe, sino qué tan probable es que esta red la detecte. Esa probabilidad sesga cualquier conclusión sobre poblaciones de agujeros negros.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Este es el resultado central. El horizonte es el caso ideal; al promediar la respuesta angular, horizonte/rango es 2.2649. Como el volumen crece como distancia al cubo, no modelar selección afecta mucho los conteos.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Mostrar el pico en ambos detectores. El test de control recupera SNR 19.81 en Hanford y 13.54 en Livingston, con el retraso esperado. También contrastamos nuestra waveform con LAL: match 1.000.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Esta fue la dificultad y el aprendizaje del proyecto: no aceptar un número solo porque parece razonable. El pipeline tiene datos hasheados, tests y procedencia. Una limitación importante: inspiral-only subestima la detectabilidad de sistemas pesados como GW150914.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s. Cerrar con el mensaje principal y el próximo paso concreto: una campaña de inyecciones completa.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esta diapositiva visible durante las preguntas. No hace falta decir más que: gracias por escucharnos; esperamos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13232"/>
            <a:ext cx="1572768" cy="310896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94944"/>
            <a:ext cx="142646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0C182B"/>
                </a:solidFill>
                <a:latin typeface="Aptos"/>
              </a:defRPr>
            </a:pPr>
            <a:r>
              <a:t>PROYECTO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469880" cy="1691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3100" b="1">
                <a:solidFill>
                  <a:srgbClr val="F7F9FC"/>
                </a:solidFill>
                <a:latin typeface="Aptos"/>
              </a:defRPr>
            </a:pPr>
            <a:r>
              <a:t>¿De qué es ciego LIGO?</a:t>
            </a:r>
            <a:br/>
            <a:r>
              <a:t>Efectos de selección en el catálogo de fusiones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73552"/>
            <a:ext cx="97840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700" b="0">
                <a:solidFill>
                  <a:srgbClr val="BDCAD8"/>
                </a:solidFill>
                <a:latin typeface="Aptos"/>
              </a:defRPr>
            </a:pPr>
            <a:r>
              <a:t>Proyecto final · Ondas Gravitacionales e Investigación Asistida por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800600"/>
            <a:ext cx="3566160" cy="73152"/>
          </a:xfrm>
          <a:prstGeom prst="rect">
            <a:avLst/>
          </a:prstGeom>
          <a:solidFill>
            <a:srgbClr val="F1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530352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600" b="0">
                <a:solidFill>
                  <a:srgbClr val="F7F9FC"/>
                </a:solidFill>
                <a:latin typeface="Aptos"/>
              </a:defRPr>
            </a:pPr>
            <a:r>
              <a:t>Tomás Carpintieri · Agustín Miculicich</a:t>
            </a:r>
            <a:br/>
            <a:r>
              <a:t>Universidad de Buenos 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5897880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400" b="1">
                <a:solidFill>
                  <a:srgbClr val="30B5A4"/>
                </a:solidFill>
                <a:latin typeface="Aptos"/>
              </a:defRPr>
            </a:pPr>
            <a:r>
              <a:t>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417320" cy="292608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0C182B"/>
                </a:solidFill>
                <a:latin typeface="Aptos"/>
              </a:defRPr>
            </a:pPr>
            <a:r>
              <a:t>1 ·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El catálogo observado no es el universo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426464"/>
            <a:ext cx="106984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BDCAD8"/>
                </a:solidFill>
                <a:latin typeface="Aptos"/>
              </a:defRPr>
            </a:pPr>
            <a:r>
              <a:t>La detectabilidad depende tanto de la fuente como de la geometría del detector.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900" b="0">
                <a:solidFill>
                  <a:srgbClr val="BDCAD8"/>
                </a:solidFill>
                <a:latin typeface="Aptos"/>
              </a:defRPr>
            </a:pPr>
            <a:r>
              <a:t>LIGO selection  ·  Proyecto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06040" cy="1463040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423160"/>
            <a:ext cx="21488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202B39"/>
                </a:solidFill>
                <a:latin typeface="Aptos"/>
              </a:defRPr>
            </a:pPr>
            <a:r>
              <a:t>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61488"/>
            <a:ext cx="2267712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900" b="1">
                <a:solidFill>
                  <a:srgbClr val="202B39"/>
                </a:solidFill>
                <a:latin typeface="Aptos"/>
              </a:defRPr>
            </a:pPr>
            <a:r>
              <a:t>masa</a:t>
            </a:r>
            <a:br/>
            <a:r>
              <a:t>distancia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240280"/>
            <a:ext cx="2606040" cy="1463040"/>
          </a:xfrm>
          <a:prstGeom prst="roundRect">
            <a:avLst/>
          </a:prstGeom>
          <a:solidFill>
            <a:srgbClr val="FF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2423160"/>
            <a:ext cx="21488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202B39"/>
                </a:solidFill>
                <a:latin typeface="Aptos"/>
              </a:defRPr>
            </a:pPr>
            <a:r>
              <a:t>GEOMETRÍA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761488"/>
            <a:ext cx="2267712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900" b="1">
                <a:solidFill>
                  <a:srgbClr val="202B39"/>
                </a:solidFill>
                <a:latin typeface="Aptos"/>
              </a:defRPr>
            </a:pPr>
            <a:r>
              <a:t>cielo</a:t>
            </a:r>
            <a:br/>
            <a:r>
              <a:t>orientación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240280"/>
            <a:ext cx="2606040" cy="1463040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2423160"/>
            <a:ext cx="21488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202B39"/>
                </a:solidFill>
                <a:latin typeface="Aptos"/>
              </a:defRPr>
            </a:pPr>
            <a:r>
              <a:t>INSTRUMENTO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761488"/>
            <a:ext cx="2267712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900" b="1">
                <a:solidFill>
                  <a:srgbClr val="202B39"/>
                </a:solidFill>
                <a:latin typeface="Aptos"/>
              </a:defRPr>
            </a:pPr>
            <a:r>
              <a:t>ruido</a:t>
            </a:r>
            <a:br/>
            <a:r>
              <a:t>umbral SNR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633472"/>
            <a:ext cx="411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000" b="1">
                <a:solidFill>
                  <a:srgbClr val="30B5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633472"/>
            <a:ext cx="411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000" b="1">
                <a:solidFill>
                  <a:srgbClr val="30B5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480560"/>
            <a:ext cx="10012680" cy="960120"/>
          </a:xfrm>
          <a:prstGeom prst="roundRect">
            <a:avLst/>
          </a:prstGeom>
          <a:solidFill>
            <a:srgbClr val="18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681728"/>
            <a:ext cx="9464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000" b="1">
                <a:solidFill>
                  <a:srgbClr val="F7F9FC"/>
                </a:solidFill>
                <a:latin typeface="Aptos"/>
              </a:defRPr>
            </a:pPr>
            <a:r>
              <a:t>Resultado: se detectan preferentemente fuentes cercanas, masivas y bien orientadas.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417320" cy="292608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0C182B"/>
                </a:solidFill>
                <a:latin typeface="Aptos"/>
              </a:defRPr>
            </a:pPr>
            <a:r>
              <a:t>2 · RESULTADO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El horizonte óptimo sobrestima el alcance típico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426464"/>
            <a:ext cx="106984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BDCAD8"/>
                </a:solidFill>
                <a:latin typeface="Aptos"/>
              </a:defRPr>
            </a:pPr>
            <a:r>
              <a:t>Para GW150914, la orientación y la posición en el cielo reducen fuertemente el volumen accesible.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900" b="0">
                <a:solidFill>
                  <a:srgbClr val="BDCAD8"/>
                </a:solidFill>
                <a:latin typeface="Aptos"/>
              </a:defRPr>
            </a:pPr>
            <a:r>
              <a:t>LIGO selection  ·  Proyecto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3456432" cy="2240280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443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202B39"/>
                </a:solidFill>
                <a:latin typeface="Aptos"/>
              </a:defRPr>
            </a:pPr>
            <a:r>
              <a:t>HORIZONTE ÓPTIMO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30632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00" b="1">
                <a:solidFill>
                  <a:srgbClr val="202B39"/>
                </a:solidFill>
                <a:latin typeface="Aptos"/>
              </a:defRPr>
            </a:pPr>
            <a:r>
              <a:t>1 969.9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4670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0">
                <a:solidFill>
                  <a:srgbClr val="202B39"/>
                </a:solidFill>
                <a:latin typeface="Aptos"/>
              </a:defRPr>
            </a:pPr>
            <a:r>
              <a:t>Mpc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21608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0">
                <a:solidFill>
                  <a:srgbClr val="202B39"/>
                </a:solidFill>
                <a:latin typeface="Aptos"/>
              </a:defRPr>
            </a:pPr>
            <a:r>
              <a:t>mejor caso: fuente alineada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743200"/>
            <a:ext cx="32461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700" b="1">
                <a:solidFill>
                  <a:srgbClr val="F17E3D"/>
                </a:solidFill>
                <a:latin typeface="Aptos"/>
              </a:defRPr>
            </a:pPr>
            <a:r>
              <a:t>÷ 2.2649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246120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b="0">
                <a:solidFill>
                  <a:srgbClr val="BDCAD8"/>
                </a:solidFill>
                <a:latin typeface="Aptos"/>
              </a:defRPr>
            </a:pPr>
            <a:r>
              <a:t>factor horizonte / rango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3456432" cy="2240280"/>
          </a:xfrm>
          <a:prstGeom prst="roundRect">
            <a:avLst/>
          </a:prstGeom>
          <a:solidFill>
            <a:srgbClr val="FF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286000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202B39"/>
                </a:solidFill>
                <a:latin typeface="Aptos"/>
              </a:defRPr>
            </a:pPr>
            <a:r>
              <a:t>VOLUMEN EUCLÍDEO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697480"/>
            <a:ext cx="30632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00" b="1">
                <a:solidFill>
                  <a:srgbClr val="202B39"/>
                </a:solidFill>
                <a:latin typeface="Aptos"/>
              </a:defRPr>
            </a:pPr>
            <a:r>
              <a:t>32.02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34670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0">
                <a:solidFill>
                  <a:srgbClr val="202B39"/>
                </a:solidFill>
                <a:latin typeface="Aptos"/>
              </a:defRPr>
            </a:pPr>
            <a:r>
              <a:t>Gpc³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721608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0">
                <a:solidFill>
                  <a:srgbClr val="202B39"/>
                </a:solidFill>
                <a:latin typeface="Aptos"/>
              </a:defRPr>
            </a:pPr>
            <a:r>
              <a:t>el volumen cambia como D³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1" y="4782312"/>
            <a:ext cx="10104120" cy="667512"/>
          </a:xfrm>
          <a:prstGeom prst="roundRect">
            <a:avLst/>
          </a:prstGeom>
          <a:solidFill>
            <a:srgbClr val="18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919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1">
                <a:solidFill>
                  <a:srgbClr val="F7F9FC"/>
                </a:solidFill>
                <a:latin typeface="Aptos"/>
              </a:defRPr>
            </a:pPr>
            <a:r>
              <a:t>Una pequeña pérdida de alcance se amplifica cúbicamente en el número de eventos observables.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417320" cy="292608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0C182B"/>
                </a:solidFill>
                <a:latin typeface="Aptos"/>
              </a:defRPr>
            </a:pPr>
            <a:r>
              <a:t>3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Antes de estimar selección, recuperamos GW150914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426464"/>
            <a:ext cx="106984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BDCAD8"/>
                </a:solidFill>
                <a:latin typeface="Aptos"/>
              </a:defRPr>
            </a:pPr>
            <a:r>
              <a:t>El mismo pipeline encuentra la señal conocida en datos reales de los dos detectores.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900" b="0">
                <a:solidFill>
                  <a:srgbClr val="BDCAD8"/>
                </a:solidFill>
                <a:latin typeface="Aptos"/>
              </a:defRPr>
            </a:pPr>
            <a:r>
              <a:t>LIGO selection  ·  Proyecto final</a:t>
            </a:r>
          </a:p>
        </p:txBody>
      </p:sp>
      <p:pic>
        <p:nvPicPr>
          <p:cNvPr id="7" name="Picture 6" descr="f01_sn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74519"/>
            <a:ext cx="6629400" cy="32659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2057400"/>
            <a:ext cx="3246120" cy="932688"/>
          </a:xfrm>
          <a:prstGeom prst="roundRect">
            <a:avLst/>
          </a:prstGeom>
          <a:solidFill>
            <a:srgbClr val="FF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2194560"/>
            <a:ext cx="13716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100" b="1">
                <a:solidFill>
                  <a:srgbClr val="202B39"/>
                </a:solidFill>
                <a:latin typeface="Aptos"/>
              </a:defRPr>
            </a:pPr>
            <a:r>
              <a:t>19.81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221992"/>
            <a:ext cx="15361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300" b="0">
                <a:solidFill>
                  <a:srgbClr val="202B39"/>
                </a:solidFill>
                <a:latin typeface="Aptos"/>
              </a:defRPr>
            </a:pPr>
            <a:r>
              <a:t>SNR en H1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246120"/>
            <a:ext cx="3246120" cy="932688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3383279"/>
            <a:ext cx="13716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100" b="1">
                <a:solidFill>
                  <a:srgbClr val="202B39"/>
                </a:solidFill>
                <a:latin typeface="Aptos"/>
              </a:defRPr>
            </a:pPr>
            <a:r>
              <a:t>13.54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410712"/>
            <a:ext cx="15361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300" b="0">
                <a:solidFill>
                  <a:srgbClr val="202B39"/>
                </a:solidFill>
                <a:latin typeface="Aptos"/>
              </a:defRPr>
            </a:pPr>
            <a:r>
              <a:t>SNR en 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434840"/>
            <a:ext cx="3246120" cy="932688"/>
          </a:xfrm>
          <a:prstGeom prst="roundRect">
            <a:avLst/>
          </a:prstGeom>
          <a:solidFill>
            <a:srgbClr val="FF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4572000"/>
            <a:ext cx="13716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100" b="1">
                <a:solidFill>
                  <a:srgbClr val="202B39"/>
                </a:solidFill>
                <a:latin typeface="Aptos"/>
              </a:defRPr>
            </a:pPr>
            <a:r>
              <a:t>−7.08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4599431"/>
            <a:ext cx="15361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300" b="0">
                <a:solidFill>
                  <a:srgbClr val="202B39"/>
                </a:solidFill>
                <a:latin typeface="Aptos"/>
              </a:defRPr>
            </a:pPr>
            <a:r>
              <a:t>L1 llega 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5650992"/>
            <a:ext cx="3127248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b="1">
                <a:solidFill>
                  <a:srgbClr val="BDCAD8"/>
                </a:solidFill>
                <a:latin typeface="Aptos"/>
              </a:defRPr>
            </a:pPr>
            <a:r>
              <a:t>Además: match de waveform frente a LAL = 1.000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417320" cy="292608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0C182B"/>
                </a:solidFill>
                <a:latin typeface="Aptos"/>
              </a:defRPr>
            </a:pPr>
            <a:r>
              <a:t>4 · EXPERIENCIA /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La lección fue validar antes de inferir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426464"/>
            <a:ext cx="106984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BDCAD8"/>
                </a:solidFill>
                <a:latin typeface="Aptos"/>
              </a:defRPr>
            </a:pPr>
            <a:r>
              <a:t>Cada afirmación importante quedó asociada a datos, una prueba y una limitación explícita.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900" b="0">
                <a:solidFill>
                  <a:srgbClr val="BDCAD8"/>
                </a:solidFill>
                <a:latin typeface="Aptos"/>
              </a:defRPr>
            </a:pPr>
            <a:r>
              <a:t>LIGO selection  ·  Proyecto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743200" cy="2651760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395728"/>
            <a:ext cx="6400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200" b="1">
                <a:solidFill>
                  <a:srgbClr val="30B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0088"/>
            <a:ext cx="21945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700" b="1">
                <a:solidFill>
                  <a:srgbClr val="202B39"/>
                </a:solidFill>
                <a:latin typeface="Aptos"/>
              </a:defRPr>
            </a:pPr>
            <a:r>
              <a:t>Datos reproducibles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30168"/>
            <a:ext cx="2176272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202B39"/>
                </a:solidFill>
                <a:latin typeface="Aptos"/>
              </a:defRPr>
            </a:pPr>
            <a:r>
              <a:t>strain y waveforms</a:t>
            </a:r>
            <a:br/>
            <a:r>
              <a:t>verificados con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48840"/>
            <a:ext cx="2743200" cy="2651760"/>
          </a:xfrm>
          <a:prstGeom prst="roundRect">
            <a:avLst/>
          </a:prstGeom>
          <a:solidFill>
            <a:srgbClr val="FF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395728"/>
            <a:ext cx="6400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200" b="1">
                <a:solidFill>
                  <a:srgbClr val="30B5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90088"/>
            <a:ext cx="21945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700" b="1">
                <a:solidFill>
                  <a:srgbClr val="202B39"/>
                </a:solidFill>
                <a:latin typeface="Aptos"/>
              </a:defRPr>
            </a:pPr>
            <a:r>
              <a:t>Tests antes que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30168"/>
            <a:ext cx="2176272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202B39"/>
                </a:solidFill>
                <a:latin typeface="Aptos"/>
              </a:defRPr>
            </a:pPr>
            <a:r>
              <a:t>39 controles automáticos</a:t>
            </a:r>
            <a:br/>
            <a:r>
              <a:t>y figuras regenerables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148840"/>
            <a:ext cx="2743200" cy="2651760"/>
          </a:xfrm>
          <a:prstGeom prst="roundRect">
            <a:avLst/>
          </a:prstGeom>
          <a:solidFill>
            <a:srgbClr val="D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1" y="2395728"/>
            <a:ext cx="6400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200" b="1">
                <a:solidFill>
                  <a:srgbClr val="30B5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990088"/>
            <a:ext cx="21945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700" b="1">
                <a:solidFill>
                  <a:srgbClr val="202B39"/>
                </a:solidFill>
                <a:latin typeface="Aptos"/>
              </a:defRPr>
            </a:pPr>
            <a:r>
              <a:t>Límites declarados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630168"/>
            <a:ext cx="2176272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300" b="0">
                <a:solidFill>
                  <a:srgbClr val="202B39"/>
                </a:solidFill>
                <a:latin typeface="Aptos"/>
              </a:defRPr>
            </a:pPr>
            <a:r>
              <a:t>TaylorF2 subestima</a:t>
            </a:r>
            <a:br/>
            <a:r>
              <a:t>sistemas pesados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358384"/>
            <a:ext cx="9784080" cy="502920"/>
          </a:xfrm>
          <a:prstGeom prst="roundRect">
            <a:avLst/>
          </a:prstGeom>
          <a:solidFill>
            <a:srgbClr val="18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5458968"/>
            <a:ext cx="9281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F7F9FC"/>
                </a:solidFill>
                <a:latin typeface="Aptos"/>
              </a:defRPr>
            </a:pPr>
            <a:r>
              <a:t>Un resultado confiable no es solo un número: es un número que puede volver a producirse y discutirse.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417320" cy="292608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2801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0C182B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Para estudiar poblaciones, primero hay que modelar qué deja pasar el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900" b="0">
                <a:solidFill>
                  <a:srgbClr val="BDCAD8"/>
                </a:solidFill>
                <a:latin typeface="Aptos"/>
              </a:defRPr>
            </a:pPr>
            <a:r>
              <a:t>LIGO selection  ·  Proyecto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61320" cy="1005840"/>
          </a:xfrm>
          <a:prstGeom prst="roundRect">
            <a:avLst/>
          </a:prstGeom>
          <a:solidFill>
            <a:srgbClr val="18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99669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100" b="1">
                <a:solidFill>
                  <a:srgbClr val="F7F9FC"/>
                </a:solidFill>
                <a:latin typeface="Aptos"/>
              </a:defRPr>
            </a:pPr>
            <a:r>
              <a:t>El universo observado por LIGO es una población filtrada por distancia, masa y geometría.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400" b="1">
                <a:solidFill>
                  <a:srgbClr val="30B5A4"/>
                </a:solidFill>
                <a:latin typeface="Aptos"/>
              </a:defRPr>
            </a:pPr>
            <a:r>
              <a:t>Siguiente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9738360" cy="6126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2400" b="1">
                <a:solidFill>
                  <a:srgbClr val="F7F9FC"/>
                </a:solidFill>
                <a:latin typeface="Aptos"/>
              </a:defRPr>
            </a:pPr>
            <a:r>
              <a:t>Campaña de inyecciones: simular una población, insertarla en datos reales y medir qué fracción recupera la 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5623560"/>
            <a:ext cx="182880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2300" b="1">
                <a:solidFill>
                  <a:srgbClr val="30B5A4"/>
                </a:solidFill>
                <a:latin typeface="Aptos"/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914400"/>
            <a:ext cx="1737360" cy="310896"/>
          </a:xfrm>
          <a:prstGeom prst="roundRect">
            <a:avLst/>
          </a:prstGeom>
          <a:solidFill>
            <a:srgbClr val="30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0C182B"/>
                </a:solidFill>
                <a:latin typeface="Aptos"/>
              </a:defRPr>
            </a:pPr>
            <a:r>
              <a:t>PROYECTO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500" b="1">
                <a:solidFill>
                  <a:srgbClr val="F7F9FC"/>
                </a:solidFill>
                <a:latin typeface="Aptos"/>
              </a:defRPr>
            </a:pPr>
            <a:r>
              <a:t>Gracias por escucharnos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100" b="0">
                <a:solidFill>
                  <a:srgbClr val="30B5A4"/>
                </a:solidFill>
                <a:latin typeface="Aptos"/>
              </a:defRPr>
            </a:pPr>
            <a:r>
              <a:t>Esperamos sus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4005072"/>
            <a:ext cx="3520440" cy="64008"/>
          </a:xfrm>
          <a:prstGeom prst="rect">
            <a:avLst/>
          </a:prstGeom>
          <a:solidFill>
            <a:srgbClr val="F1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0">
                <a:solidFill>
                  <a:srgbClr val="BDCAD8"/>
                </a:solidFill>
                <a:latin typeface="Aptos"/>
              </a:defRPr>
            </a:pPr>
            <a:r>
              <a:t>Tomás Carpintieri · Agustín Miculicich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BDCAD8"/>
                </a:solidFill>
                <a:latin typeface="Aptos"/>
              </a:defRPr>
            </a:pPr>
            <a:r>
              <a:t>Universidad de Buenos Aires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