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s. Presentar la pregunta guía: una detección no es una muestra neutral del universo; el detector favorece ciertas fuentes.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La pregunta no es solamente si una fusión existe, sino qué tan probable es que esta red la detecte. Esa probabilidad sesga cualquier conclusión sobre poblaciones de agujeros negros.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Este es el resultado central. El horizonte es el caso ideal; al promediar la respuesta angular, horizonte/rango es 2.2649. Como el volumen crece como distancia al cubo, no modelar selección afecta mucho los conteos.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Mostrar el pico en ambos detectores. El test de control recupera SNR 19.81 en Hanford y 13.54 en Livingston, con el retraso esperado. También contrastamos nuestra waveform con LAL: match 1.000.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Esta fue la dificultad y el aprendizaje del proyecto: no aceptar un número solo porque parece razonable. El pipeline tiene datos hasheados, tests y procedencia. Una limitación importante: inspiral-only subestima la detectabilidad de sistemas pesados como GW150914.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s. Cerrar con el mensaje principal y el próximo paso concreto: una campaña de inyecciones completa. Abrir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713232"/>
            <a:ext cx="1572768" cy="310896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94944"/>
            <a:ext cx="1426464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0C182B"/>
                </a:solidFill>
                <a:latin typeface="Aptos"/>
              </a:defRPr>
            </a:pPr>
            <a:r>
              <a:t>PROYECTO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417320"/>
            <a:ext cx="9875520" cy="155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3500" b="1">
                <a:solidFill>
                  <a:srgbClr val="F7F9FC"/>
                </a:solidFill>
                <a:latin typeface="Aptos"/>
              </a:defRPr>
            </a:pPr>
            <a:r>
              <a:t>¿Qué fusiones de agujeros negros</a:t>
            </a:r>
            <a:br/>
            <a:r>
              <a:t>puede ver LIGO?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246120"/>
            <a:ext cx="6583680" cy="7772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0">
                <a:solidFill>
                  <a:srgbClr val="BDCAD8"/>
                </a:solidFill>
                <a:latin typeface="Aptos"/>
              </a:defRPr>
            </a:pPr>
            <a:r>
              <a:t>Sesgo de selección y observabilidad</a:t>
            </a:r>
            <a:br/>
            <a:r>
              <a:t>en el caso GW150914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4800600"/>
            <a:ext cx="3566160" cy="73152"/>
          </a:xfrm>
          <a:prstGeom prst="rect">
            <a:avLst/>
          </a:prstGeom>
          <a:solidFill>
            <a:srgbClr val="F1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074920"/>
            <a:ext cx="4572000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600" b="0">
                <a:solidFill>
                  <a:srgbClr val="F7F9FC"/>
                </a:solidFill>
                <a:latin typeface="Aptos"/>
              </a:defRPr>
            </a:pPr>
            <a:r>
              <a:t>Tomás Carpintieri · Agustín Miculicich</a:t>
            </a:r>
            <a:br/>
            <a:r>
              <a:t>Universidad de Buenos Aires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5897880"/>
            <a:ext cx="118872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400" b="1">
                <a:solidFill>
                  <a:srgbClr val="30B5A4"/>
                </a:solidFill>
                <a:latin typeface="Aptos"/>
              </a:defRPr>
            </a:pPr>
            <a:r>
              <a:t>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1 ·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El catálogo observado no es el universo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La detectabilidad depende tanto de la fuente como de la geometría del detector.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146304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FUENTE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masa</a:t>
            </a:r>
            <a:br/>
            <a:r>
              <a:t>distancia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240280"/>
            <a:ext cx="2606040" cy="146304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1416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GEOMETRÍA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cielo</a:t>
            </a:r>
            <a:br/>
            <a:r>
              <a:t>orientación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2240280"/>
            <a:ext cx="2606040" cy="146304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46136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INSTRUMENTO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ruido</a:t>
            </a:r>
            <a:br/>
            <a:r>
              <a:t>umbral SNR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633472"/>
            <a:ext cx="411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000" b="1">
                <a:solidFill>
                  <a:srgbClr val="30B5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2633472"/>
            <a:ext cx="411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000" b="1">
                <a:solidFill>
                  <a:srgbClr val="30B5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4480560"/>
            <a:ext cx="10012680" cy="96012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681728"/>
            <a:ext cx="946404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000" b="1">
                <a:solidFill>
                  <a:srgbClr val="F7F9FC"/>
                </a:solidFill>
                <a:latin typeface="Aptos"/>
              </a:defRPr>
            </a:pPr>
            <a:r>
              <a:t>Resultado: se detectan preferentemente fuentes cercanas, masivas y bien orientadas.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2 · RESULTADO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El horizonte óptimo sobrestima el alcance típico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Para GW150914, la orientación y la posición en el cielo reducen fuertemente el volumen accesible.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65960"/>
            <a:ext cx="3456432" cy="224028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944368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 b="1">
                <a:solidFill>
                  <a:srgbClr val="202B39"/>
                </a:solidFill>
                <a:latin typeface="Aptos"/>
              </a:defRPr>
            </a:pPr>
            <a:r>
              <a:t>HORIZONTE ÓPTIMO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30632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100" b="1">
                <a:solidFill>
                  <a:srgbClr val="202B39"/>
                </a:solidFill>
                <a:latin typeface="Aptos"/>
              </a:defRPr>
            </a:pPr>
            <a:r>
              <a:t>1 969.9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46704"/>
            <a:ext cx="3063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202B39"/>
                </a:solidFill>
                <a:latin typeface="Aptos"/>
              </a:defRPr>
            </a:pPr>
            <a:r>
              <a:t>Mpc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21608"/>
            <a:ext cx="30632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202B39"/>
                </a:solidFill>
                <a:latin typeface="Aptos"/>
              </a:defRPr>
            </a:pPr>
            <a:r>
              <a:t>mejor caso: fuente alineada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743200"/>
            <a:ext cx="324612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700" b="1">
                <a:solidFill>
                  <a:srgbClr val="F17E3D"/>
                </a:solidFill>
                <a:latin typeface="Aptos"/>
              </a:defRPr>
            </a:pPr>
            <a:r>
              <a:t>÷ 2.2649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246120"/>
            <a:ext cx="324612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200" b="0">
                <a:solidFill>
                  <a:srgbClr val="BDCAD8"/>
                </a:solidFill>
                <a:latin typeface="Aptos"/>
              </a:defRPr>
            </a:pPr>
            <a:r>
              <a:t>factor horizonte / rango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1965960"/>
            <a:ext cx="3456432" cy="224028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2286000"/>
            <a:ext cx="29718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 b="1">
                <a:solidFill>
                  <a:srgbClr val="202B39"/>
                </a:solidFill>
                <a:latin typeface="Aptos"/>
              </a:defRPr>
            </a:pPr>
            <a:r>
              <a:t>VOLUMEN EUCLÍDEO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2697480"/>
            <a:ext cx="30632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100" b="1">
                <a:solidFill>
                  <a:srgbClr val="202B39"/>
                </a:solidFill>
                <a:latin typeface="Aptos"/>
              </a:defRPr>
            </a:pPr>
            <a:r>
              <a:t>32.02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3346704"/>
            <a:ext cx="3063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202B39"/>
                </a:solidFill>
                <a:latin typeface="Aptos"/>
              </a:defRPr>
            </a:pPr>
            <a:r>
              <a:t>Gpc³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3721608"/>
            <a:ext cx="30632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202B39"/>
                </a:solidFill>
                <a:latin typeface="Aptos"/>
              </a:defRPr>
            </a:pPr>
            <a:r>
              <a:t>el volumen cambia como D³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3271" y="4782312"/>
            <a:ext cx="10104120" cy="667512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919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1">
                <a:solidFill>
                  <a:srgbClr val="F7F9FC"/>
                </a:solidFill>
                <a:latin typeface="Aptos"/>
              </a:defRPr>
            </a:pPr>
            <a:r>
              <a:t>Una pequeña pérdida de alcance se amplifica cúbicamente en el número de eventos observables.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3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Antes de estimar selección, recuperamos GW150914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El mismo pipeline encuentra la señal conocida en datos reales de los dos detectores.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pic>
        <p:nvPicPr>
          <p:cNvPr id="7" name="Picture 6" descr="f01_snr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74519"/>
            <a:ext cx="6629400" cy="326595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2057400"/>
            <a:ext cx="3246120" cy="932688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1" y="2194560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19.81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2221992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SNR en H1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246120"/>
            <a:ext cx="3246120" cy="932688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3383279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13.54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410712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SNR en 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4434840"/>
            <a:ext cx="3246120" cy="932688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4572000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−7.08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4599431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L1 llega 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5650992"/>
            <a:ext cx="3127248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200" b="1">
                <a:solidFill>
                  <a:srgbClr val="BDCAD8"/>
                </a:solidFill>
                <a:latin typeface="Aptos"/>
              </a:defRPr>
            </a:pPr>
            <a:r>
              <a:t>Además: match de waveform frente a LAL = 1.000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4 · EXPERIENCIA / APRENDIZAJE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La lección fue validar antes de inferir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Cada afirmación importante quedó asociada a datos, una prueba y una limitación explícita.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743200" cy="265176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Datos reproducibles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strain y waveforms</a:t>
            </a:r>
            <a:br/>
            <a:r>
              <a:t>verificados con 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2148840"/>
            <a:ext cx="2743200" cy="265176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Tests antes que conclusiones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39 controles automáticos</a:t>
            </a:r>
            <a:br/>
            <a:r>
              <a:t>y figuras regenerables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2148840"/>
            <a:ext cx="2743200" cy="265176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82711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Límites declarados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TaylorF2 subestima</a:t>
            </a:r>
            <a:br/>
            <a:r>
              <a:t>sistemas pesados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358384"/>
            <a:ext cx="9784080" cy="50292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5458968"/>
            <a:ext cx="928116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1">
                <a:solidFill>
                  <a:srgbClr val="F7F9FC"/>
                </a:solidFill>
                <a:latin typeface="Aptos"/>
              </a:defRPr>
            </a:pPr>
            <a:r>
              <a:t>Un resultado confiable no es solo un número: es un número que puede volver a producirse y discutirse.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Para estudiar poblaciones, primero hay que modelar qué deja pasar el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10561320" cy="100584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76272"/>
            <a:ext cx="996696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100" b="1">
                <a:solidFill>
                  <a:srgbClr val="F7F9FC"/>
                </a:solidFill>
                <a:latin typeface="Aptos"/>
              </a:defRPr>
            </a:pPr>
            <a:r>
              <a:t>El universo observado por LIGO es una población filtrada por distancia, masa y geometría.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274320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400" b="1">
                <a:solidFill>
                  <a:srgbClr val="30B5A4"/>
                </a:solidFill>
                <a:latin typeface="Aptos"/>
              </a:defRPr>
            </a:pPr>
            <a:r>
              <a:t>Siguiente 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87952"/>
            <a:ext cx="9738360" cy="6126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400" b="1">
                <a:solidFill>
                  <a:srgbClr val="F7F9FC"/>
                </a:solidFill>
                <a:latin typeface="Aptos"/>
              </a:defRPr>
            </a:pPr>
            <a:r>
              <a:t>Campaña de inyecciones: simular una población, insertarla en datos reales y medir qué fracción recupera la 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5623560"/>
            <a:ext cx="182880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2300" b="1">
                <a:solidFill>
                  <a:srgbClr val="30B5A4"/>
                </a:solidFill>
                <a:latin typeface="Aptos"/>
              </a:defRPr>
            </a:pPr>
            <a: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