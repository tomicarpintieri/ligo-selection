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s. Una detección no es una muestra neutral del universo: LIGO oye mejor unas fusiones que otras. Esa imagen de la derecha es la respuesta del propio detector, y es de donde sale todo lo demás.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 s. La pregunta no es si una fusión ocurrió, sino qué probabilidad había de que esta red la detectara. Esa probabilidad sesga cualquier conclusión sobre poblaciones de agujeros negros.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55 s. Éste es el resultado central. El horizonte es el mejor caso posible: fuente justo arriba y bien orientada. Al promediar sobre todo el cielo y todas las orientaciones, el alcance equivalente en volumen es 2.2649 veces menor. Como el volumen va con la distancia al cubo, ignorar la geometría cambia mucho los conteos.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s. Esto es lo que hay detrás del factor anterior. El mapa de sensibilidad está pegado al detector, y la Tierra gira: las zonas oscuras se mueven. Una fusión que a una hora caía en un punto ciego, seis horas después se escucha perfectamente.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55 s. Antes de afirmar nada nuevo, el pipeline tiene que encontrar algo que ya se conoce. Recupera SNR 19.81 en Hanford, 13.54 en Livingston y el retraso de 7.08 ms. La geometría de los sitios da un máximo de 10.013 ms, así que ese retraso no da una posición: da un anillo.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 s. Ésta fue la dificultad real. Un test reveló que el corte de la forma de onda estaba apagado, y ese test había sido borrado del repositorio: los chequeos que parecen redundantes cuando los escribís son los que encuentran algo cuando los corrés. Y cuando el blanqueo dio 0.442 en vez de 0.965 no tocamos la tolerancia: buscamos la causa y llegamos a 0.959.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s. Cerramos con lo medido: el catálogo favorece fuentes cercanas, bien orientadas y, en el régimen de inspiral, más masivas. El piloto en ruido real recuperó 39.6 % frente a 4.2 % de fondo al mismo umbral. El paso siguiente es la campaña completa con fusión y ringdown.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Dejar visible durante las preguntas. Si alguien pregunta por la localización, el mapa está a la vista: el retraso define un anillo, no un punto.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515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1592A"/>
                </a:solidFill>
                <a:latin typeface="Consolas"/>
              </a:defRPr>
            </a:pPr>
            <a:r>
              <a:t>PROYECTO FINAL  ·  5 MINUTOS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444752"/>
            <a:ext cx="1737360" cy="41148"/>
          </a:xfrm>
          <a:prstGeom prst="rect">
            <a:avLst/>
          </a:prstGeom>
          <a:solidFill>
            <a:srgbClr val="D15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585216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defRPr sz="4600" b="1">
                <a:solidFill>
                  <a:srgbClr val="1F2933"/>
                </a:solidFill>
                <a:latin typeface="Georgia"/>
              </a:defRPr>
            </a:pPr>
            <a:r>
              <a:t>¿De qué es ciego</a:t>
            </a:r>
          </a:p>
          <a:p>
            <a:pPr algn="l">
              <a:lnSpc>
                <a:spcPct val="95000"/>
              </a:lnSpc>
              <a:defRPr sz="4600" b="1">
                <a:solidFill>
                  <a:srgbClr val="1F2933"/>
                </a:solidFill>
                <a:latin typeface="Georgia"/>
              </a:defRPr>
            </a:pPr>
            <a:r>
              <a:t>LIGO?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886200"/>
            <a:ext cx="5577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0">
                <a:solidFill>
                  <a:srgbClr val="6B7684"/>
                </a:solidFill>
                <a:latin typeface="Aptos"/>
              </a:defRPr>
            </a:pPr>
            <a:r>
              <a:t>Efectos de selección en el catálogo de fusiones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4681728"/>
            <a:ext cx="5577840" cy="10972"/>
          </a:xfrm>
          <a:prstGeom prst="rect">
            <a:avLst/>
          </a:prstGeom>
          <a:solidFill>
            <a:srgbClr val="DF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4956048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1">
                <a:solidFill>
                  <a:srgbClr val="1F2933"/>
                </a:solidFill>
                <a:latin typeface="Aptos"/>
              </a:defRPr>
            </a:pPr>
            <a:r>
              <a:t>Tomás Carpintieri  ·  Agustín Miculicich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321808"/>
            <a:ext cx="566928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defRPr sz="1300" b="0">
                <a:solidFill>
                  <a:srgbClr val="6B7684"/>
                </a:solidFill>
                <a:latin typeface="Aptos"/>
              </a:defRPr>
            </a:pPr>
            <a:r>
              <a:t>Ondas Gravitacionales e Investigación Asistida por IA</a:t>
            </a:r>
          </a:p>
          <a:p>
            <a:pPr algn="l">
              <a:lnSpc>
                <a:spcPct val="125000"/>
              </a:lnSpc>
              <a:defRPr sz="1300" b="0">
                <a:solidFill>
                  <a:srgbClr val="6B7684"/>
                </a:solidFill>
                <a:latin typeface="Aptos"/>
              </a:defRPr>
            </a:pPr>
            <a:r>
              <a:t>Universidad de Buenos Aires</a:t>
            </a:r>
          </a:p>
        </p:txBody>
      </p:sp>
      <p:pic>
        <p:nvPicPr>
          <p:cNvPr id="9" name="Picture 8" descr="trim_f04_antenna_patte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874519"/>
            <a:ext cx="4846320" cy="273086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12280" y="5047488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50" b="0">
                <a:solidFill>
                  <a:srgbClr val="6B7684"/>
                </a:solidFill>
                <a:latin typeface="Consolas"/>
              </a:defRPr>
            </a:pPr>
            <a:r>
              <a:t>respuesta del detector: oscuro = sordo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572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1">
                <a:solidFill>
                  <a:srgbClr val="D1592A"/>
                </a:solidFill>
                <a:latin typeface="Consolas"/>
              </a:defRPr>
            </a:pPr>
            <a:r>
              <a:t>1 · PROBLEMA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768096"/>
            <a:ext cx="1371600" cy="32004"/>
          </a:xfrm>
          <a:prstGeom prst="rect">
            <a:avLst/>
          </a:prstGeom>
          <a:solidFill>
            <a:srgbClr val="D15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969264"/>
            <a:ext cx="106984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defRPr sz="2800" b="1">
                <a:solidFill>
                  <a:srgbClr val="1F2933"/>
                </a:solidFill>
                <a:latin typeface="Georgia"/>
              </a:defRPr>
            </a:pPr>
            <a:r>
              <a:t>El catálogo observado no es el universo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65376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50" b="0">
                <a:solidFill>
                  <a:srgbClr val="6B7684"/>
                </a:solidFill>
                <a:latin typeface="Aptos"/>
              </a:defRPr>
            </a:pPr>
            <a:r>
              <a:t>La detectabilidad depende tanto de la fuente como de la geometría del detector.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419088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B7684"/>
                </a:solidFill>
                <a:latin typeface="Consolas"/>
              </a:defRPr>
            </a:pPr>
            <a:r>
              <a:t>ligo-selection  ·  proyecto final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487168"/>
            <a:ext cx="2743200" cy="32004"/>
          </a:xfrm>
          <a:prstGeom prst="rect">
            <a:avLst/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1592A"/>
                </a:solidFill>
                <a:latin typeface="Consolas"/>
              </a:defRPr>
            </a:pPr>
            <a:r>
              <a:t>LA FUENTE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90672"/>
            <a:ext cx="27432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defRPr sz="2100" b="1">
                <a:solidFill>
                  <a:srgbClr val="1F2933"/>
                </a:solidFill>
                <a:latin typeface="Aptos"/>
              </a:defRPr>
            </a:pPr>
            <a:r>
              <a:t>masa</a:t>
            </a:r>
          </a:p>
          <a:p>
            <a:pPr algn="l">
              <a:lnSpc>
                <a:spcPct val="120000"/>
              </a:lnSpc>
              <a:defRPr sz="2100" b="1">
                <a:solidFill>
                  <a:srgbClr val="1F2933"/>
                </a:solidFill>
                <a:latin typeface="Aptos"/>
              </a:defRPr>
            </a:pPr>
            <a:r>
              <a:t>distancia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2487168"/>
            <a:ext cx="2743200" cy="32004"/>
          </a:xfrm>
          <a:prstGeom prst="rect">
            <a:avLst/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269748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1592A"/>
                </a:solidFill>
                <a:latin typeface="Consolas"/>
              </a:defRPr>
            </a:pPr>
            <a:r>
              <a:t>LA GEOMETRÍA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3090672"/>
            <a:ext cx="27432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defRPr sz="2100" b="1">
                <a:solidFill>
                  <a:srgbClr val="1F2933"/>
                </a:solidFill>
                <a:latin typeface="Aptos"/>
              </a:defRPr>
            </a:pPr>
            <a:r>
              <a:t>posición en el cielo</a:t>
            </a:r>
          </a:p>
          <a:p>
            <a:pPr algn="l">
              <a:lnSpc>
                <a:spcPct val="120000"/>
              </a:lnSpc>
              <a:defRPr sz="2100" b="1">
                <a:solidFill>
                  <a:srgbClr val="1F2933"/>
                </a:solidFill>
                <a:latin typeface="Aptos"/>
              </a:defRPr>
            </a:pPr>
            <a:r>
              <a:t>orientación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3920" y="2487168"/>
            <a:ext cx="2743200" cy="32004"/>
          </a:xfrm>
          <a:prstGeom prst="rect">
            <a:avLst/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269748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1592A"/>
                </a:solidFill>
                <a:latin typeface="Consolas"/>
              </a:defRPr>
            </a:pPr>
            <a:r>
              <a:t>EL INSTRUMENTO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090672"/>
            <a:ext cx="27432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defRPr sz="2100" b="1">
                <a:solidFill>
                  <a:srgbClr val="1F2933"/>
                </a:solidFill>
                <a:latin typeface="Aptos"/>
              </a:defRPr>
            </a:pPr>
            <a:r>
              <a:t>ruido</a:t>
            </a:r>
          </a:p>
          <a:p>
            <a:pPr algn="l">
              <a:lnSpc>
                <a:spcPct val="120000"/>
              </a:lnSpc>
              <a:defRPr sz="2100" b="1">
                <a:solidFill>
                  <a:srgbClr val="1F2933"/>
                </a:solidFill>
                <a:latin typeface="Aptos"/>
              </a:defRPr>
            </a:pPr>
            <a:r>
              <a:t>umbral de detección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3127248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2600" b="1">
                <a:solidFill>
                  <a:srgbClr val="6B768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127248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2600" b="1">
                <a:solidFill>
                  <a:srgbClr val="6B768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4800600"/>
            <a:ext cx="10332720" cy="914400"/>
          </a:xfrm>
          <a:prstGeom prst="rect">
            <a:avLst/>
          </a:prstGeom>
          <a:solidFill>
            <a:srgbClr val="16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5084064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2000" b="1">
                <a:solidFill>
                  <a:srgbClr val="E4EAEF"/>
                </a:solidFill>
                <a:latin typeface="Georgia"/>
              </a:defRPr>
            </a:pPr>
            <a:r>
              <a:t>Se detectan preferentemente fuentes cercanas, masivas y bien orientadas.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572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1">
                <a:solidFill>
                  <a:srgbClr val="D1592A"/>
                </a:solidFill>
                <a:latin typeface="Consolas"/>
              </a:defRPr>
            </a:pPr>
            <a:r>
              <a:t>2 · RESULTADO PRINCIPAL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768096"/>
            <a:ext cx="1371600" cy="32004"/>
          </a:xfrm>
          <a:prstGeom prst="rect">
            <a:avLst/>
          </a:prstGeom>
          <a:solidFill>
            <a:srgbClr val="D15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969264"/>
            <a:ext cx="106984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defRPr sz="2800" b="1">
                <a:solidFill>
                  <a:srgbClr val="1F2933"/>
                </a:solidFill>
                <a:latin typeface="Georgia"/>
              </a:defRPr>
            </a:pPr>
            <a:r>
              <a:t>El horizonte óptimo sobrestima el alcance típico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65376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50" b="0">
                <a:solidFill>
                  <a:srgbClr val="6B7684"/>
                </a:solidFill>
                <a:latin typeface="Aptos"/>
              </a:defRPr>
            </a:pPr>
            <a:r>
              <a:t>Promediando cielo, orientación y polarización, la fuente típica se ve mucho más cerca.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419088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B7684"/>
                </a:solidFill>
                <a:latin typeface="Consolas"/>
              </a:defRPr>
            </a:pPr>
            <a:r>
              <a:t>ligo-selection  ·  proyecto final</a:t>
            </a:r>
          </a:p>
        </p:txBody>
      </p:sp>
      <p:pic>
        <p:nvPicPr>
          <p:cNvPr id="7" name="Picture 6" descr="trim_f04_antenna_patte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359152"/>
            <a:ext cx="5760720" cy="3246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5760720"/>
            <a:ext cx="5760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defRPr sz="1150" b="0">
                <a:solidFill>
                  <a:srgbClr val="6B7684"/>
                </a:solidFill>
                <a:latin typeface="Aptos"/>
              </a:defRPr>
            </a:pPr>
            <a:r>
              <a:t>Los cuatro cruces son ceros exactos: direcciones en las que el detector</a:t>
            </a:r>
          </a:p>
          <a:p>
            <a:pPr algn="l">
              <a:lnSpc>
                <a:spcPct val="130000"/>
              </a:lnSpc>
              <a:defRPr sz="1150" b="0">
                <a:solidFill>
                  <a:srgbClr val="6B7684"/>
                </a:solidFill>
                <a:latin typeface="Aptos"/>
              </a:defRPr>
            </a:pPr>
            <a:r>
              <a:t>no mide nada, por más fuerte que sea la onda.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2395728"/>
            <a:ext cx="4023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5200" b="1">
                <a:solidFill>
                  <a:srgbClr val="D1592A"/>
                </a:solidFill>
                <a:latin typeface="Georgia"/>
              </a:defRPr>
            </a:pPr>
            <a:r>
              <a:t>÷ 2.2649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3101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B7684"/>
                </a:solidFill>
                <a:latin typeface="Consolas"/>
              </a:defRPr>
            </a:pPr>
            <a:r>
              <a:t>horizonte  /  rango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3767328"/>
            <a:ext cx="4023360" cy="10972"/>
          </a:xfrm>
          <a:prstGeom prst="rect">
            <a:avLst/>
          </a:prstGeom>
          <a:solidFill>
            <a:srgbClr val="DF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4041648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000" b="1">
                <a:solidFill>
                  <a:srgbClr val="1F2933"/>
                </a:solidFill>
                <a:latin typeface="Georgia"/>
              </a:defRPr>
            </a:pPr>
            <a:r>
              <a:t>1 970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419709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0">
                <a:solidFill>
                  <a:srgbClr val="6B7684"/>
                </a:solidFill>
                <a:latin typeface="Consolas"/>
              </a:defRPr>
            </a:pPr>
            <a:r>
              <a:t>Mpc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4927" y="454456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6B7684"/>
                </a:solidFill>
                <a:latin typeface="Aptos"/>
              </a:defRPr>
            </a:pPr>
            <a:r>
              <a:t>horizonte óptimo de GW150914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50292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000" b="1">
                <a:solidFill>
                  <a:srgbClr val="1F2933"/>
                </a:solidFill>
                <a:latin typeface="Georgia"/>
              </a:defRPr>
            </a:pPr>
            <a:r>
              <a:t>32.0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51846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0">
                <a:solidFill>
                  <a:srgbClr val="6B7684"/>
                </a:solidFill>
                <a:latin typeface="Consolas"/>
              </a:defRPr>
            </a:pPr>
            <a:r>
              <a:t>Gpc³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4927" y="5532120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6B7684"/>
                </a:solidFill>
                <a:latin typeface="Aptos"/>
              </a:defRPr>
            </a:pPr>
            <a:r>
              <a:t>volumen euclídeo accesible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5870448"/>
            <a:ext cx="4069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defRPr sz="1200" b="1">
                <a:solidFill>
                  <a:srgbClr val="1F2933"/>
                </a:solidFill>
                <a:latin typeface="Aptos"/>
              </a:defRPr>
            </a:pPr>
            <a:r>
              <a:t>El volumen cambia como la distancia al cubo: perder alcance se paga caro.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572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1">
                <a:solidFill>
                  <a:srgbClr val="D1592A"/>
                </a:solidFill>
                <a:latin typeface="Consolas"/>
              </a:defRPr>
            </a:pPr>
            <a:r>
              <a:t>POR QUÉ · GEOMETRÍA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768096"/>
            <a:ext cx="1371600" cy="32004"/>
          </a:xfrm>
          <a:prstGeom prst="rect">
            <a:avLst/>
          </a:prstGeom>
          <a:solidFill>
            <a:srgbClr val="D15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969264"/>
            <a:ext cx="106984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defRPr sz="2800" b="1">
                <a:solidFill>
                  <a:srgbClr val="1F2933"/>
                </a:solidFill>
                <a:latin typeface="Georgia"/>
              </a:defRPr>
            </a:pPr>
            <a:r>
              <a:t>Y los puntos ciegos barren el cielo cada día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65376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50" b="0">
                <a:solidFill>
                  <a:srgbClr val="6B7684"/>
                </a:solidFill>
                <a:latin typeface="Aptos"/>
              </a:defRPr>
            </a:pPr>
            <a:r>
              <a:t>El patrón está atornillado a la Tierra, así que gira con ella.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419088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B7684"/>
                </a:solidFill>
                <a:latin typeface="Consolas"/>
              </a:defRPr>
            </a:pPr>
            <a:r>
              <a:t>ligo-selection  ·  proyecto final</a:t>
            </a:r>
          </a:p>
        </p:txBody>
      </p:sp>
      <p:pic>
        <p:nvPicPr>
          <p:cNvPr id="7" name="Picture 6" descr="trim_f06_rotation_pan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2267712"/>
            <a:ext cx="5383457" cy="3611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6053328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400" b="1">
                <a:solidFill>
                  <a:srgbClr val="1F2933"/>
                </a:solidFill>
                <a:latin typeface="Aptos"/>
              </a:defRPr>
            </a:pPr>
            <a:r>
              <a:t>Una misma fuente puede ser audible o invisible según la hora a la que ocurra.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572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1">
                <a:solidFill>
                  <a:srgbClr val="D1592A"/>
                </a:solidFill>
                <a:latin typeface="Consolas"/>
              </a:defRPr>
            </a:pPr>
            <a:r>
              <a:t>3 · VALIDACIÓN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768096"/>
            <a:ext cx="1371600" cy="32004"/>
          </a:xfrm>
          <a:prstGeom prst="rect">
            <a:avLst/>
          </a:prstGeom>
          <a:solidFill>
            <a:srgbClr val="D15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969264"/>
            <a:ext cx="106984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defRPr sz="2800" b="1">
                <a:solidFill>
                  <a:srgbClr val="1F2933"/>
                </a:solidFill>
                <a:latin typeface="Georgia"/>
              </a:defRPr>
            </a:pPr>
            <a:r>
              <a:t>Antes de estimar selección, recuperamos GW150914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65376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50" b="0">
                <a:solidFill>
                  <a:srgbClr val="6B7684"/>
                </a:solidFill>
                <a:latin typeface="Aptos"/>
              </a:defRPr>
            </a:pPr>
            <a:r>
              <a:t>El mismo código encuentra la señal conocida en datos reales de los dos detectores.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419088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B7684"/>
                </a:solidFill>
                <a:latin typeface="Consolas"/>
              </a:defRPr>
            </a:pPr>
            <a:r>
              <a:t>ligo-selection  ·  proyecto final</a:t>
            </a:r>
          </a:p>
        </p:txBody>
      </p:sp>
      <p:pic>
        <p:nvPicPr>
          <p:cNvPr id="7" name="Picture 6" descr="trim_f01_snr_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395728"/>
            <a:ext cx="6858000" cy="330257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001000" y="2487168"/>
            <a:ext cx="3474720" cy="86868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2642616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Georgia"/>
              </a:defRPr>
            </a:pPr>
            <a:r>
              <a:t>19.81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3054096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6B7684"/>
                </a:solidFill>
                <a:latin typeface="Aptos"/>
              </a:defRPr>
            </a:pPr>
            <a:r>
              <a:t>SNR en Hanford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1000" y="3602736"/>
            <a:ext cx="3474720" cy="86868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3758184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Georgia"/>
              </a:defRPr>
            </a:pPr>
            <a:r>
              <a:t>13.54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4169664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6B7684"/>
                </a:solidFill>
                <a:latin typeface="Aptos"/>
              </a:defRPr>
            </a:pPr>
            <a:r>
              <a:t>SNR en Livingston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0" y="4718304"/>
            <a:ext cx="3474720" cy="86868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4873752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Georgia"/>
              </a:defRPr>
            </a:pPr>
            <a:r>
              <a:t>-7.08 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5285232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6B7684"/>
                </a:solidFill>
                <a:latin typeface="Aptos"/>
              </a:defRPr>
            </a:pPr>
            <a:r>
              <a:t>L1 llega antes que H1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594360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1F2933"/>
                </a:solidFill>
                <a:latin typeface="Aptos"/>
              </a:defRPr>
            </a:pPr>
            <a:r>
              <a:t>Contra la referencia de LAL, match = 1.000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6254496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B7684"/>
                </a:solidFill>
                <a:latin typeface="Consolas"/>
              </a:defRPr>
            </a:pPr>
            <a:r>
              <a:t>Máximo retardo geométrico H1–L1 = 10.013 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572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1">
                <a:solidFill>
                  <a:srgbClr val="D1592A"/>
                </a:solidFill>
                <a:latin typeface="Consolas"/>
              </a:defRPr>
            </a:pPr>
            <a:r>
              <a:t>4 · EXPERIENCIA / APRENDIZAJE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768096"/>
            <a:ext cx="1371600" cy="32004"/>
          </a:xfrm>
          <a:prstGeom prst="rect">
            <a:avLst/>
          </a:prstGeom>
          <a:solidFill>
            <a:srgbClr val="D15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969264"/>
            <a:ext cx="106984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defRPr sz="2800" b="1">
                <a:solidFill>
                  <a:srgbClr val="1F2933"/>
                </a:solidFill>
                <a:latin typeface="Georgia"/>
              </a:defRPr>
            </a:pPr>
            <a:r>
              <a:t>Los tests que parecían de más encontraron los errores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65376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50" b="0">
                <a:solidFill>
                  <a:srgbClr val="6B7684"/>
                </a:solidFill>
                <a:latin typeface="Aptos"/>
              </a:defRPr>
            </a:pPr>
            <a:r>
              <a:t>Cada número quedó atado a un dato, una prueba y una limitación declarada.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419088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B7684"/>
                </a:solidFill>
                <a:latin typeface="Consolas"/>
              </a:defRPr>
            </a:pPr>
            <a:r>
              <a:t>ligo-selection  ·  proyecto final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487168"/>
            <a:ext cx="2743200" cy="283464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2697480"/>
            <a:ext cx="731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D1592A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3163824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1F2933"/>
                </a:solidFill>
                <a:latin typeface="Georgia"/>
              </a:defRPr>
            </a:pPr>
            <a:r>
              <a:t>Un test borrado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3730752"/>
            <a:ext cx="22860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defRPr sz="1250" b="0">
                <a:solidFill>
                  <a:srgbClr val="1F2933"/>
                </a:solidFill>
                <a:latin typeface="Aptos"/>
              </a:defRPr>
            </a:pPr>
            <a:r>
              <a:t>El corte de la forma de onda estaba desactivado. El test que lo detectaba había sido eliminado del repositorio.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9160" y="2487168"/>
            <a:ext cx="2743200" cy="283464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65192" y="2697480"/>
            <a:ext cx="731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D1592A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65192" y="3163824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1F2933"/>
                </a:solidFill>
                <a:latin typeface="Georgia"/>
              </a:defRPr>
            </a:pPr>
            <a:r>
              <a:t>No movimos el margen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65192" y="3730752"/>
            <a:ext cx="22860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defRPr sz="1250" b="0">
                <a:solidFill>
                  <a:srgbClr val="1F2933"/>
                </a:solidFill>
                <a:latin typeface="Aptos"/>
              </a:defRPr>
            </a:pPr>
            <a:r>
              <a:t>La varianza de blanqueo daba 0.442 donde debía dar 0.965. Buscamos la causa en vez de ensanchar la tolerancia.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3920" y="2487168"/>
            <a:ext cx="2743200" cy="283464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59952" y="2697480"/>
            <a:ext cx="731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D1592A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59952" y="3163824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1F2933"/>
                </a:solidFill>
                <a:latin typeface="Georgia"/>
              </a:defRPr>
            </a:pPr>
            <a:r>
              <a:t>Procedencia de todo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9952" y="3730752"/>
            <a:ext cx="22860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defRPr sz="1250" b="0">
                <a:solidFill>
                  <a:srgbClr val="1F2933"/>
                </a:solidFill>
                <a:latin typeface="Aptos"/>
              </a:defRPr>
            </a:pPr>
            <a:r>
              <a:t>Cada número y cada figura registran qué los produjo y contra qué se verificaron. Un test lo exige.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5650992"/>
            <a:ext cx="10332720" cy="658368"/>
          </a:xfrm>
          <a:prstGeom prst="rect">
            <a:avLst/>
          </a:prstGeom>
          <a:solidFill>
            <a:srgbClr val="16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5824728"/>
            <a:ext cx="9784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500" b="1">
                <a:solidFill>
                  <a:srgbClr val="E4EAEF"/>
                </a:solidFill>
                <a:latin typeface="Aptos"/>
              </a:defRPr>
            </a:pPr>
            <a:r>
              <a:t>Un resultado confiable no es un número: es un número que se puede volver a producir y discutir.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2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572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1">
                <a:solidFill>
                  <a:srgbClr val="D1592A"/>
                </a:solidFill>
                <a:latin typeface="Consolas"/>
              </a:defRPr>
            </a:pPr>
            <a:r>
              <a:t>CIERRE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768096"/>
            <a:ext cx="1371600" cy="32004"/>
          </a:xfrm>
          <a:prstGeom prst="rect">
            <a:avLst/>
          </a:prstGeom>
          <a:solidFill>
            <a:srgbClr val="D15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969264"/>
            <a:ext cx="106984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defRPr sz="2800" b="1">
                <a:solidFill>
                  <a:srgbClr val="E4EAEF"/>
                </a:solidFill>
                <a:latin typeface="Georgia"/>
              </a:defRPr>
            </a:pPr>
            <a:r>
              <a:t>Modelar la selección es el primer paso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419088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B7684"/>
                </a:solidFill>
                <a:latin typeface="Consolas"/>
              </a:defRPr>
            </a:pPr>
            <a:r>
              <a:t>ligo-selection  ·  proyecto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860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defRPr sz="2300" b="1">
                <a:solidFill>
                  <a:srgbClr val="E4EAEF"/>
                </a:solidFill>
                <a:latin typeface="Georgia"/>
              </a:defRPr>
            </a:pPr>
            <a:r>
              <a:t>El universo que ve LIGO es una población filtrada por distancia, masa y geometría.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127248"/>
            <a:ext cx="10515600" cy="10972"/>
          </a:xfrm>
          <a:prstGeom prst="rect">
            <a:avLst/>
          </a:prstGeom>
          <a:solidFill>
            <a:srgbClr val="334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3456432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1">
                <a:solidFill>
                  <a:srgbClr val="D1592A"/>
                </a:solidFill>
                <a:latin typeface="Consolas"/>
              </a:defRPr>
            </a:pPr>
            <a:r>
              <a:t>EL PILOTO, EN RUIDO REAL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822191"/>
            <a:ext cx="51206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defRPr sz="1500" b="0">
                <a:solidFill>
                  <a:srgbClr val="E4EAEF"/>
                </a:solidFill>
                <a:latin typeface="Aptos"/>
              </a:defRPr>
            </a:pPr>
            <a:r>
              <a:t>De 96 fusiones inyectadas en datos reales de H1 y L1 recuperamos el 39.6%, frente a un 4.2% de falsas alarmas al mismo umbral.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3456432"/>
            <a:ext cx="4754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1">
                <a:solidFill>
                  <a:srgbClr val="D1592A"/>
                </a:solidFill>
                <a:latin typeface="Consolas"/>
              </a:defRPr>
            </a:pPr>
            <a:r>
              <a:t>SIGUIENTE PASO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822191"/>
            <a:ext cx="47548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defRPr sz="1500" b="0">
                <a:solidFill>
                  <a:srgbClr val="E4EAEF"/>
                </a:solidFill>
                <a:latin typeface="Aptos"/>
              </a:defRPr>
            </a:pPr>
            <a:r>
              <a:t>Una campaña completa: incluir fusión y ringdown, ampliar la población y medir la función de selección de la red.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553212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400" b="1">
                <a:solidFill>
                  <a:srgbClr val="D1592A"/>
                </a:solidFill>
                <a:latin typeface="Georgia"/>
              </a:defRPr>
            </a:pPr>
            <a:r>
              <a:t>Gracias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13232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3400" b="1">
                <a:solidFill>
                  <a:srgbClr val="1F2933"/>
                </a:solidFill>
                <a:latin typeface="Georgia"/>
              </a:defRPr>
            </a:pPr>
            <a:r>
              <a:t>Gracias por escucharnos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8988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600" b="0">
                <a:solidFill>
                  <a:srgbClr val="6B7684"/>
                </a:solidFill>
                <a:latin typeface="Aptos"/>
              </a:defRPr>
            </a:pPr>
            <a:r>
              <a:t>Esperamos sus preguntas</a:t>
            </a:r>
          </a:p>
        </p:txBody>
      </p:sp>
      <p:pic>
        <p:nvPicPr>
          <p:cNvPr id="4" name="Picture 3" descr="trim_f05_network_sky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029968"/>
            <a:ext cx="10241280" cy="29592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864608" y="5888736"/>
            <a:ext cx="2468880" cy="10972"/>
          </a:xfrm>
          <a:prstGeom prst="rect">
            <a:avLst/>
          </a:prstGeom>
          <a:solidFill>
            <a:srgbClr val="D15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61264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0">
                <a:solidFill>
                  <a:srgbClr val="6B7684"/>
                </a:solidFill>
                <a:latin typeface="Aptos"/>
              </a:defRPr>
            </a:pPr>
            <a:r>
              <a:t>Tomás Carpintieri  ·  Agustín Miculicich      Universidad de Buenos Aires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